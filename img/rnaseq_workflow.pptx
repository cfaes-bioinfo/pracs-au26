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F0D9"/>
    <a:srgbClr val="F4F4F4"/>
    <a:srgbClr val="E1E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99"/>
    <p:restoredTop sz="94737"/>
  </p:normalViewPr>
  <p:slideViewPr>
    <p:cSldViewPr snapToGrid="0">
      <p:cViewPr varScale="1">
        <p:scale>
          <a:sx n="121" d="100"/>
          <a:sy n="121" d="100"/>
        </p:scale>
        <p:origin x="168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DDAE2-F957-3B7E-EEED-CCF2365772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9221DD-D010-7B80-3E20-5EE1AC0033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A7B0F-926E-EF1B-F7E6-F614F1082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6A9E-0E01-B94F-8948-6DADCDB8C713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E5D33-130D-527C-B571-DAC5B5215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86691-A753-4869-1D36-B7E51CBE5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DFD69-E015-E34C-A727-A51EBB1B3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261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A346C-359D-D52B-D413-C030D7027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E9E1C-70C0-5DBD-CE7E-F29DCFAC4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3D18E-264D-EBDA-83EC-DA5C4D509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6A9E-0E01-B94F-8948-6DADCDB8C713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5DA83-9968-F550-3FC9-6FB2A5F09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DCF81-4BBA-5783-BD83-B56786EF0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DFD69-E015-E34C-A727-A51EBB1B3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348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9B720-CE91-F645-4807-516ED324C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815C4-6C88-E39F-AF07-BACC195C9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59C43-7A43-DB8B-F4DF-44DBB51B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6A9E-0E01-B94F-8948-6DADCDB8C713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0C88-73FF-DFE6-8E27-0B24D1889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B0F52-4201-0399-6016-F8E8D9A16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DFD69-E015-E34C-A727-A51EBB1B3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346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0F2E8-B2BC-C943-23DB-9A89CD056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85D66-BD96-8983-4A26-AAFF9840C7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9B931-9655-4C44-E1D4-BDEF4829D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2CAEE-0295-CAAD-833C-8BD02F4F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6A9E-0E01-B94F-8948-6DADCDB8C713}" type="datetimeFigureOut">
              <a:rPr lang="en-US" smtClean="0"/>
              <a:t>8/23/25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B17C9-8C06-B04A-BE02-EE9F4BBF2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1028A-F5A7-A0D9-AA7B-1921260D1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DFD69-E015-E34C-A727-A51EBB1B3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0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8A672-1AE5-BC15-8B79-E10D22F14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A66E0-3BA3-6675-6078-718760F54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7D62BA-5458-0CFC-F021-E2DA82495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118B98-ED28-CB3E-E0B4-817018B606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EDA26B-2E8B-BD9A-9E0C-0C6F916F49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4427D-EA1D-0532-B7BD-74CE6F6BD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6A9E-0E01-B94F-8948-6DADCDB8C713}" type="datetimeFigureOut">
              <a:rPr lang="en-US" smtClean="0"/>
              <a:t>8/23/25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D82152-66BB-787C-B478-709C4E3D4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2E8112-1797-380B-5920-DF05F7787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DFD69-E015-E34C-A727-A51EBB1B3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097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34DFE-0FC0-9F81-F85C-A27920DD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63B009-76B3-8A00-5576-F3FB7F749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6A9E-0E01-B94F-8948-6DADCDB8C713}" type="datetimeFigureOut">
              <a:rPr lang="en-US" smtClean="0"/>
              <a:t>8/23/25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36B2C-822E-3DD2-721D-B4A8B79EF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EA33FB-83B1-BC3F-4223-EA5401378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DFD69-E015-E34C-A727-A51EBB1B3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087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535E6C-6D85-087C-53C3-EB6D59B46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6A9E-0E01-B94F-8948-6DADCDB8C713}" type="datetimeFigureOut">
              <a:rPr lang="en-US" smtClean="0"/>
              <a:t>8/23/25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DDFA70-44EB-4996-8B4E-15FBF37C8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3F152-5FA3-81DD-AF8C-E09FD2927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DFD69-E015-E34C-A727-A51EBB1B3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253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1A2B8-3204-BF2A-C3DE-8465940DF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3BE79-373A-156E-C87F-EEAD90276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938EA1-DD11-CDBA-F6C2-E29B74E42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4CD8D-3770-C9F3-493F-DF1BF976A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6A9E-0E01-B94F-8948-6DADCDB8C713}" type="datetimeFigureOut">
              <a:rPr lang="en-US" smtClean="0"/>
              <a:t>8/23/25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FF7AB5-9F2D-230B-C20B-D41581834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34043-78EF-2D63-7F76-676F8B419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DFD69-E015-E34C-A727-A51EBB1B3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81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B0764-8324-2CE1-6C2B-C2CC3D7E9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DEA47B-9267-598D-744E-F70619F945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6E3193-AD1E-5B26-0BFF-602B959F5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68BBE-D512-83CE-DA8F-D03993EB9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6A9E-0E01-B94F-8948-6DADCDB8C713}" type="datetimeFigureOut">
              <a:rPr lang="en-US" smtClean="0"/>
              <a:t>8/23/25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CA719-AEDE-C8A1-9421-FAD71626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F4135-08B2-F852-BF27-C29D29200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DFD69-E015-E34C-A727-A51EBB1B3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1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FE108-8670-5BD1-EA88-9AE7FDA1C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76F1EF-1A3D-2ECE-4499-187FF4786D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693AE-0F78-5C01-57F0-AF5603292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6A9E-0E01-B94F-8948-6DADCDB8C713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9A50C-D1A4-7A5B-0BE6-F7EB49E8E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AACD0-D771-8DB8-CB6F-99D77239C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DFD69-E015-E34C-A727-A51EBB1B3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598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B00DDA-143D-B010-2B98-D5C921E10F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0E3135-C897-9B8B-3724-2D7D904EE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5DCC5-DDD7-8D98-56AC-87279382E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6A9E-0E01-B94F-8948-6DADCDB8C713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B24EF-39A8-32BA-0F64-4E691B85E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48551-5BE2-C93A-8EDD-046AF1CC7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DFD69-E015-E34C-A727-A51EBB1B3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03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20192A-916F-D156-8B9A-A973B3012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6C733-818E-9021-A91B-D9EB1AE46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C8BAF-14F3-EF30-532A-05148DD2E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B6A9E-0E01-B94F-8948-6DADCDB8C713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6DA8C-C382-E379-E703-68AF228B7B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4BFD4-BECF-8AE5-497D-CA8B513D0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DFD69-E015-E34C-A727-A51EBB1B3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662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0ACA2080-FC6F-C9B8-2DAB-95781E40DF18}"/>
              </a:ext>
            </a:extLst>
          </p:cNvPr>
          <p:cNvGrpSpPr/>
          <p:nvPr/>
        </p:nvGrpSpPr>
        <p:grpSpPr>
          <a:xfrm>
            <a:off x="2575034" y="595201"/>
            <a:ext cx="6784577" cy="5821534"/>
            <a:chOff x="2575034" y="595201"/>
            <a:chExt cx="6784577" cy="5821534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B06840C6-FD51-0344-C3BB-10C555E9AD01}"/>
                </a:ext>
              </a:extLst>
            </p:cNvPr>
            <p:cNvSpPr/>
            <p:nvPr/>
          </p:nvSpPr>
          <p:spPr>
            <a:xfrm>
              <a:off x="2575034" y="595201"/>
              <a:ext cx="6784577" cy="58215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2B6FC033-6117-13D4-1BF4-846C266A5CA3}"/>
                </a:ext>
              </a:extLst>
            </p:cNvPr>
            <p:cNvSpPr/>
            <p:nvPr/>
          </p:nvSpPr>
          <p:spPr>
            <a:xfrm>
              <a:off x="5796348" y="804364"/>
              <a:ext cx="876166" cy="48768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  <a:alpha val="2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75280F42-7090-5CEB-B0E6-BF1A2AE64F95}"/>
                </a:ext>
              </a:extLst>
            </p:cNvPr>
            <p:cNvSpPr/>
            <p:nvPr/>
          </p:nvSpPr>
          <p:spPr>
            <a:xfrm>
              <a:off x="5752435" y="857837"/>
              <a:ext cx="876166" cy="48768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ight Arrow 17">
              <a:extLst>
                <a:ext uri="{FF2B5EF4-FFF2-40B4-BE49-F238E27FC236}">
                  <a16:creationId xmlns:a16="http://schemas.microsoft.com/office/drawing/2014/main" id="{3BCF955C-7508-5247-6497-482D7A89D87F}"/>
                </a:ext>
              </a:extLst>
            </p:cNvPr>
            <p:cNvSpPr/>
            <p:nvPr/>
          </p:nvSpPr>
          <p:spPr>
            <a:xfrm>
              <a:off x="4737829" y="961365"/>
              <a:ext cx="829056" cy="195072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FBFFA2B4-9245-064D-C742-79119E7B5D2F}"/>
                </a:ext>
              </a:extLst>
            </p:cNvPr>
            <p:cNvSpPr/>
            <p:nvPr/>
          </p:nvSpPr>
          <p:spPr>
            <a:xfrm>
              <a:off x="4717162" y="1025939"/>
              <a:ext cx="829056" cy="195072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9EBA967F-67E6-4204-F031-51485E0A4782}"/>
                </a:ext>
              </a:extLst>
            </p:cNvPr>
            <p:cNvSpPr/>
            <p:nvPr/>
          </p:nvSpPr>
          <p:spPr>
            <a:xfrm>
              <a:off x="3072895" y="824876"/>
              <a:ext cx="1402080" cy="48768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  <a:alpha val="34212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C39AC8D9-9A80-AA3B-5954-2A5183F3C8F0}"/>
                </a:ext>
              </a:extLst>
            </p:cNvPr>
            <p:cNvSpPr/>
            <p:nvPr/>
          </p:nvSpPr>
          <p:spPr>
            <a:xfrm>
              <a:off x="3001396" y="891932"/>
              <a:ext cx="1402080" cy="48768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3545D503-FE03-0C18-BC89-909E7BEDAF51}"/>
                </a:ext>
              </a:extLst>
            </p:cNvPr>
            <p:cNvSpPr/>
            <p:nvPr/>
          </p:nvSpPr>
          <p:spPr>
            <a:xfrm>
              <a:off x="2934340" y="958988"/>
              <a:ext cx="1402080" cy="48768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C2237E9-6BE5-2F12-64EB-146437312F62}"/>
                </a:ext>
              </a:extLst>
            </p:cNvPr>
            <p:cNvSpPr txBox="1"/>
            <p:nvPr/>
          </p:nvSpPr>
          <p:spPr>
            <a:xfrm>
              <a:off x="2934340" y="1027094"/>
              <a:ext cx="1360714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FASTQ</a:t>
              </a:r>
            </a:p>
          </p:txBody>
        </p:sp>
        <p:sp>
          <p:nvSpPr>
            <p:cNvPr id="9" name="Right Arrow 8">
              <a:extLst>
                <a:ext uri="{FF2B5EF4-FFF2-40B4-BE49-F238E27FC236}">
                  <a16:creationId xmlns:a16="http://schemas.microsoft.com/office/drawing/2014/main" id="{EACB56FD-A114-493A-3086-84E37655701F}"/>
                </a:ext>
              </a:extLst>
            </p:cNvPr>
            <p:cNvSpPr/>
            <p:nvPr/>
          </p:nvSpPr>
          <p:spPr>
            <a:xfrm>
              <a:off x="4689988" y="1081940"/>
              <a:ext cx="829056" cy="195072"/>
            </a:xfrm>
            <a:prstGeom prst="right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F8BC4E4-E1E0-32E5-11E8-AC808D2D976C}"/>
                </a:ext>
              </a:extLst>
            </p:cNvPr>
            <p:cNvSpPr txBox="1"/>
            <p:nvPr/>
          </p:nvSpPr>
          <p:spPr>
            <a:xfrm>
              <a:off x="4632810" y="692760"/>
              <a:ext cx="938784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QC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CDB56ED-2B3C-8286-C432-4B14A8E1C877}"/>
                </a:ext>
              </a:extLst>
            </p:cNvPr>
            <p:cNvSpPr txBox="1"/>
            <p:nvPr/>
          </p:nvSpPr>
          <p:spPr>
            <a:xfrm>
              <a:off x="4513204" y="1243714"/>
              <a:ext cx="1188720" cy="2923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dirty="0" err="1">
                  <a:solidFill>
                    <a:schemeClr val="bg1">
                      <a:lumMod val="50000"/>
                    </a:schemeClr>
                  </a:solidFill>
                  <a:latin typeface="Ayuthaya" pitchFamily="2" charset="-34"/>
                  <a:ea typeface="Ayuthaya" pitchFamily="2" charset="-34"/>
                  <a:cs typeface="Ayuthaya" pitchFamily="2" charset="-34"/>
                </a:rPr>
                <a:t>FastQC</a:t>
              </a:r>
              <a:endParaRPr lang="en-US" sz="1300" dirty="0">
                <a:solidFill>
                  <a:schemeClr val="bg1">
                    <a:lumMod val="50000"/>
                  </a:schemeClr>
                </a:solidFill>
                <a:latin typeface="Ayuthaya" pitchFamily="2" charset="-34"/>
                <a:ea typeface="Ayuthaya" pitchFamily="2" charset="-34"/>
                <a:cs typeface="Ayuthaya" pitchFamily="2" charset="-34"/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2B6CE1F3-9D71-F371-1D43-ECC2FB415F1F}"/>
                </a:ext>
              </a:extLst>
            </p:cNvPr>
            <p:cNvSpPr/>
            <p:nvPr/>
          </p:nvSpPr>
          <p:spPr>
            <a:xfrm>
              <a:off x="5677525" y="922412"/>
              <a:ext cx="876166" cy="48768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31161BB-6F94-B274-DBF5-3900A26BAD9F}"/>
                </a:ext>
              </a:extLst>
            </p:cNvPr>
            <p:cNvSpPr txBox="1"/>
            <p:nvPr/>
          </p:nvSpPr>
          <p:spPr>
            <a:xfrm>
              <a:off x="5660699" y="889626"/>
              <a:ext cx="954832" cy="584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HTML</a:t>
              </a:r>
            </a:p>
            <a:p>
              <a:pPr algn="ctr"/>
              <a:r>
                <a:rPr lang="en-US" sz="1600" dirty="0"/>
                <a:t>reports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D935226-5921-8D47-DEB8-1A422AAD5ADF}"/>
                </a:ext>
              </a:extLst>
            </p:cNvPr>
            <p:cNvSpPr txBox="1"/>
            <p:nvPr/>
          </p:nvSpPr>
          <p:spPr>
            <a:xfrm>
              <a:off x="6771237" y="1261893"/>
              <a:ext cx="1188720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300" dirty="0" err="1">
                  <a:solidFill>
                    <a:schemeClr val="bg1">
                      <a:lumMod val="50000"/>
                    </a:schemeClr>
                  </a:solidFill>
                  <a:latin typeface="Ayuthaya" pitchFamily="2" charset="-34"/>
                  <a:ea typeface="Ayuthaya" pitchFamily="2" charset="-34"/>
                  <a:cs typeface="Ayuthaya" pitchFamily="2" charset="-34"/>
                </a:rPr>
                <a:t>MultiQC</a:t>
              </a:r>
              <a:endParaRPr lang="en-US" sz="1300" dirty="0">
                <a:solidFill>
                  <a:schemeClr val="bg1">
                    <a:lumMod val="50000"/>
                  </a:schemeClr>
                </a:solidFill>
                <a:latin typeface="Ayuthaya" pitchFamily="2" charset="-34"/>
                <a:ea typeface="Ayuthaya" pitchFamily="2" charset="-34"/>
                <a:cs typeface="Ayuthaya" pitchFamily="2" charset="-34"/>
              </a:endParaRPr>
            </a:p>
          </p:txBody>
        </p:sp>
        <p:sp>
          <p:nvSpPr>
            <p:cNvPr id="19" name="Right Arrow 18">
              <a:extLst>
                <a:ext uri="{FF2B5EF4-FFF2-40B4-BE49-F238E27FC236}">
                  <a16:creationId xmlns:a16="http://schemas.microsoft.com/office/drawing/2014/main" id="{8994E13D-2F52-ECA8-5836-C155694D0D6C}"/>
                </a:ext>
              </a:extLst>
            </p:cNvPr>
            <p:cNvSpPr/>
            <p:nvPr/>
          </p:nvSpPr>
          <p:spPr>
            <a:xfrm>
              <a:off x="6837570" y="1053218"/>
              <a:ext cx="829056" cy="195072"/>
            </a:xfrm>
            <a:prstGeom prst="right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4344C33-61A9-AA07-C869-3AD1840FCAC1}"/>
                </a:ext>
              </a:extLst>
            </p:cNvPr>
            <p:cNvSpPr txBox="1"/>
            <p:nvPr/>
          </p:nvSpPr>
          <p:spPr>
            <a:xfrm>
              <a:off x="6719573" y="700528"/>
              <a:ext cx="1122601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summarize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3094F8A-06A2-CC2D-C850-3DD74A5C9A41}"/>
                </a:ext>
              </a:extLst>
            </p:cNvPr>
            <p:cNvSpPr txBox="1"/>
            <p:nvPr/>
          </p:nvSpPr>
          <p:spPr>
            <a:xfrm>
              <a:off x="2675913" y="1681485"/>
              <a:ext cx="938784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trim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3310E5C-2F61-F868-13CE-0AF958E8D6F9}"/>
                </a:ext>
              </a:extLst>
            </p:cNvPr>
            <p:cNvSpPr txBox="1"/>
            <p:nvPr/>
          </p:nvSpPr>
          <p:spPr>
            <a:xfrm>
              <a:off x="3425837" y="1580154"/>
              <a:ext cx="1402080" cy="49244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  <a:latin typeface="Ayuthaya" pitchFamily="2" charset="-34"/>
                  <a:ea typeface="Ayuthaya" pitchFamily="2" charset="-34"/>
                  <a:cs typeface="Ayuthaya" pitchFamily="2" charset="-34"/>
                </a:rPr>
                <a:t>Trim-</a:t>
              </a:r>
              <a:br>
                <a:rPr lang="en-US" sz="1300" dirty="0">
                  <a:solidFill>
                    <a:schemeClr val="bg1">
                      <a:lumMod val="50000"/>
                    </a:schemeClr>
                  </a:solidFill>
                  <a:latin typeface="Ayuthaya" pitchFamily="2" charset="-34"/>
                  <a:ea typeface="Ayuthaya" pitchFamily="2" charset="-34"/>
                  <a:cs typeface="Ayuthaya" pitchFamily="2" charset="-34"/>
                </a:rPr>
              </a:br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  <a:latin typeface="Ayuthaya" pitchFamily="2" charset="-34"/>
                  <a:ea typeface="Ayuthaya" pitchFamily="2" charset="-34"/>
                  <a:cs typeface="Ayuthaya" pitchFamily="2" charset="-34"/>
                </a:rPr>
                <a:t>Galore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7E380FC0-5526-AFE9-E73C-80608567010D}"/>
                </a:ext>
              </a:extLst>
            </p:cNvPr>
            <p:cNvSpPr/>
            <p:nvPr/>
          </p:nvSpPr>
          <p:spPr>
            <a:xfrm>
              <a:off x="3018634" y="2304511"/>
              <a:ext cx="1402080" cy="487680"/>
            </a:xfrm>
            <a:prstGeom prst="roundRect">
              <a:avLst/>
            </a:prstGeom>
            <a:solidFill>
              <a:srgbClr val="F4F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1C2D1DE2-97B7-AE1E-1E57-534161A2ABA2}"/>
                </a:ext>
              </a:extLst>
            </p:cNvPr>
            <p:cNvSpPr/>
            <p:nvPr/>
          </p:nvSpPr>
          <p:spPr>
            <a:xfrm>
              <a:off x="2947135" y="2371567"/>
              <a:ext cx="1402080" cy="48768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84D72641-365D-9FA0-C7A7-E592B28943B5}"/>
                </a:ext>
              </a:extLst>
            </p:cNvPr>
            <p:cNvSpPr/>
            <p:nvPr/>
          </p:nvSpPr>
          <p:spPr>
            <a:xfrm>
              <a:off x="2880079" y="2438623"/>
              <a:ext cx="1402080" cy="48768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AE0936C-EFAE-898C-FC10-42B5C97B6B71}"/>
                </a:ext>
              </a:extLst>
            </p:cNvPr>
            <p:cNvSpPr txBox="1"/>
            <p:nvPr/>
          </p:nvSpPr>
          <p:spPr>
            <a:xfrm>
              <a:off x="2880079" y="2369474"/>
              <a:ext cx="1360714" cy="584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Processed FASTQ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C4FDE39-4086-9B2D-9AA2-C0CEE5F29478}"/>
                </a:ext>
              </a:extLst>
            </p:cNvPr>
            <p:cNvSpPr txBox="1"/>
            <p:nvPr/>
          </p:nvSpPr>
          <p:spPr>
            <a:xfrm>
              <a:off x="3281887" y="3281068"/>
              <a:ext cx="1402080" cy="2923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  <a:latin typeface="Ayuthaya" pitchFamily="2" charset="-34"/>
                  <a:ea typeface="Ayuthaya" pitchFamily="2" charset="-34"/>
                  <a:cs typeface="Ayuthaya" pitchFamily="2" charset="-34"/>
                </a:rPr>
                <a:t>STAR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FBC3E9C-CB8D-B056-7E61-E907BA8E7B78}"/>
                </a:ext>
              </a:extLst>
            </p:cNvPr>
            <p:cNvSpPr txBox="1"/>
            <p:nvPr/>
          </p:nvSpPr>
          <p:spPr>
            <a:xfrm>
              <a:off x="2773698" y="3212900"/>
              <a:ext cx="938784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align</a:t>
              </a:r>
            </a:p>
          </p:txBody>
        </p:sp>
        <p:sp>
          <p:nvSpPr>
            <p:cNvPr id="40" name="Direct Access Storage 39">
              <a:extLst>
                <a:ext uri="{FF2B5EF4-FFF2-40B4-BE49-F238E27FC236}">
                  <a16:creationId xmlns:a16="http://schemas.microsoft.com/office/drawing/2014/main" id="{F463BE61-8199-8508-65A4-A1A97413A78F}"/>
                </a:ext>
              </a:extLst>
            </p:cNvPr>
            <p:cNvSpPr/>
            <p:nvPr/>
          </p:nvSpPr>
          <p:spPr>
            <a:xfrm>
              <a:off x="4530212" y="2922638"/>
              <a:ext cx="1881098" cy="857294"/>
            </a:xfrm>
            <a:prstGeom prst="flowChartMagneticDrum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C63C87A-41C5-BFDE-0D99-C696C5C982C2}"/>
                </a:ext>
              </a:extLst>
            </p:cNvPr>
            <p:cNvSpPr txBox="1"/>
            <p:nvPr/>
          </p:nvSpPr>
          <p:spPr>
            <a:xfrm>
              <a:off x="4488493" y="2906683"/>
              <a:ext cx="152652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Reference</a:t>
              </a:r>
              <a:br>
                <a:rPr lang="en-US" sz="1600" dirty="0"/>
              </a:br>
              <a:r>
                <a:rPr lang="en-US" sz="1600" dirty="0"/>
                <a:t>genome</a:t>
              </a:r>
              <a:br>
                <a:rPr lang="en-US" sz="1600" dirty="0"/>
              </a:br>
              <a:r>
                <a:rPr lang="en-US" sz="1600" dirty="0"/>
                <a:t>(FASTA, GTF)</a:t>
              </a:r>
            </a:p>
          </p:txBody>
        </p:sp>
        <p:sp>
          <p:nvSpPr>
            <p:cNvPr id="43" name="Right Arrow 42">
              <a:extLst>
                <a:ext uri="{FF2B5EF4-FFF2-40B4-BE49-F238E27FC236}">
                  <a16:creationId xmlns:a16="http://schemas.microsoft.com/office/drawing/2014/main" id="{99E9ED8B-524D-106E-24EA-406FA728FA85}"/>
                </a:ext>
              </a:extLst>
            </p:cNvPr>
            <p:cNvSpPr/>
            <p:nvPr/>
          </p:nvSpPr>
          <p:spPr>
            <a:xfrm rot="10800000">
              <a:off x="3712480" y="3142302"/>
              <a:ext cx="771303" cy="167265"/>
            </a:xfrm>
            <a:prstGeom prst="right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964949C8-9E59-BFD0-2D4B-8A16706D8E01}"/>
                </a:ext>
              </a:extLst>
            </p:cNvPr>
            <p:cNvSpPr/>
            <p:nvPr/>
          </p:nvSpPr>
          <p:spPr>
            <a:xfrm>
              <a:off x="3085690" y="3846799"/>
              <a:ext cx="1402080" cy="487680"/>
            </a:xfrm>
            <a:prstGeom prst="roundRect">
              <a:avLst/>
            </a:prstGeom>
            <a:solidFill>
              <a:srgbClr val="F4F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B157CCEE-61B4-BFA0-C684-343B65196BCC}"/>
                </a:ext>
              </a:extLst>
            </p:cNvPr>
            <p:cNvSpPr/>
            <p:nvPr/>
          </p:nvSpPr>
          <p:spPr>
            <a:xfrm>
              <a:off x="3014191" y="3913855"/>
              <a:ext cx="1402080" cy="48768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D63459A9-AA8D-7A81-A6C6-FC39C3CC0E27}"/>
                </a:ext>
              </a:extLst>
            </p:cNvPr>
            <p:cNvSpPr/>
            <p:nvPr/>
          </p:nvSpPr>
          <p:spPr>
            <a:xfrm>
              <a:off x="2947135" y="3980911"/>
              <a:ext cx="1402080" cy="48768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1285893-563F-842A-01D7-4E293BC251FE}"/>
                </a:ext>
              </a:extLst>
            </p:cNvPr>
            <p:cNvSpPr txBox="1"/>
            <p:nvPr/>
          </p:nvSpPr>
          <p:spPr>
            <a:xfrm>
              <a:off x="2947135" y="3901252"/>
              <a:ext cx="1360714" cy="584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BAM (alignments)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0487867-8F87-FA88-24C2-B83FE5ACD275}"/>
                </a:ext>
              </a:extLst>
            </p:cNvPr>
            <p:cNvSpPr txBox="1"/>
            <p:nvPr/>
          </p:nvSpPr>
          <p:spPr>
            <a:xfrm>
              <a:off x="3332969" y="4772070"/>
              <a:ext cx="1402080" cy="2923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  <a:latin typeface="Ayuthaya" pitchFamily="2" charset="-34"/>
                  <a:ea typeface="Ayuthaya" pitchFamily="2" charset="-34"/>
                  <a:cs typeface="Ayuthaya" pitchFamily="2" charset="-34"/>
                </a:rPr>
                <a:t>Salmon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9405C5B-C8F5-255D-5534-C8436868A3E3}"/>
                </a:ext>
              </a:extLst>
            </p:cNvPr>
            <p:cNvSpPr txBox="1"/>
            <p:nvPr/>
          </p:nvSpPr>
          <p:spPr>
            <a:xfrm>
              <a:off x="2661140" y="4748526"/>
              <a:ext cx="938784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count</a:t>
              </a:r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95F9E111-10AA-387D-0A4B-9D6D4DD03CA2}"/>
                </a:ext>
              </a:extLst>
            </p:cNvPr>
            <p:cNvSpPr/>
            <p:nvPr/>
          </p:nvSpPr>
          <p:spPr>
            <a:xfrm>
              <a:off x="2928847" y="5413471"/>
              <a:ext cx="1402080" cy="48768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D86187A-5ABA-C74C-CD41-7D2FEB587C71}"/>
                </a:ext>
              </a:extLst>
            </p:cNvPr>
            <p:cNvSpPr txBox="1"/>
            <p:nvPr/>
          </p:nvSpPr>
          <p:spPr>
            <a:xfrm>
              <a:off x="2953649" y="5332219"/>
              <a:ext cx="1360714" cy="6155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dirty="0"/>
                <a:t>count table</a:t>
              </a:r>
              <a:br>
                <a:rPr lang="en-US" sz="1700" dirty="0"/>
              </a:br>
              <a:r>
                <a:rPr lang="en-US" sz="1700" dirty="0"/>
                <a:t>(TSV)</a:t>
              </a:r>
            </a:p>
          </p:txBody>
        </p:sp>
        <p:sp>
          <p:nvSpPr>
            <p:cNvPr id="55" name="Right Arrow 54">
              <a:extLst>
                <a:ext uri="{FF2B5EF4-FFF2-40B4-BE49-F238E27FC236}">
                  <a16:creationId xmlns:a16="http://schemas.microsoft.com/office/drawing/2014/main" id="{FD6146A0-CA96-8661-5AAF-345EC6A2501C}"/>
                </a:ext>
              </a:extLst>
            </p:cNvPr>
            <p:cNvSpPr/>
            <p:nvPr/>
          </p:nvSpPr>
          <p:spPr>
            <a:xfrm>
              <a:off x="4410188" y="5557554"/>
              <a:ext cx="1250512" cy="159482"/>
            </a:xfrm>
            <a:prstGeom prst="right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618E64C-4D12-8844-6C41-91D2F4AD95A2}"/>
                </a:ext>
              </a:extLst>
            </p:cNvPr>
            <p:cNvSpPr txBox="1"/>
            <p:nvPr/>
          </p:nvSpPr>
          <p:spPr>
            <a:xfrm>
              <a:off x="4328776" y="4720461"/>
              <a:ext cx="1515509" cy="83099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Differential expression analysis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32EF47B-1A7E-0DB1-E0B2-29445C171E4C}"/>
                </a:ext>
              </a:extLst>
            </p:cNvPr>
            <p:cNvSpPr txBox="1"/>
            <p:nvPr/>
          </p:nvSpPr>
          <p:spPr>
            <a:xfrm>
              <a:off x="4349214" y="5708801"/>
              <a:ext cx="1311485" cy="49244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  <a:latin typeface="Ayuthaya" pitchFamily="2" charset="-34"/>
                  <a:ea typeface="Ayuthaya" pitchFamily="2" charset="-34"/>
                  <a:cs typeface="Ayuthaya" pitchFamily="2" charset="-34"/>
                </a:rPr>
                <a:t>DESeq2</a:t>
              </a:r>
              <a:br>
                <a:rPr lang="en-US" sz="1300" dirty="0">
                  <a:solidFill>
                    <a:schemeClr val="bg1">
                      <a:lumMod val="50000"/>
                    </a:schemeClr>
                  </a:solidFill>
                  <a:latin typeface="Ayuthaya" pitchFamily="2" charset="-34"/>
                  <a:ea typeface="Ayuthaya" pitchFamily="2" charset="-34"/>
                  <a:cs typeface="Ayuthaya" pitchFamily="2" charset="-34"/>
                </a:rPr>
              </a:br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  <a:latin typeface="Ayuthaya" pitchFamily="2" charset="-34"/>
                  <a:ea typeface="Ayuthaya" pitchFamily="2" charset="-34"/>
                  <a:cs typeface="Ayuthaya" pitchFamily="2" charset="-34"/>
                </a:rPr>
                <a:t>(R)</a:t>
              </a:r>
            </a:p>
          </p:txBody>
        </p:sp>
        <p:sp>
          <p:nvSpPr>
            <p:cNvPr id="58" name="Right Arrow 57">
              <a:extLst>
                <a:ext uri="{FF2B5EF4-FFF2-40B4-BE49-F238E27FC236}">
                  <a16:creationId xmlns:a16="http://schemas.microsoft.com/office/drawing/2014/main" id="{D9ADF37B-79F4-D1CF-17CC-6BE6F0234221}"/>
                </a:ext>
              </a:extLst>
            </p:cNvPr>
            <p:cNvSpPr/>
            <p:nvPr/>
          </p:nvSpPr>
          <p:spPr>
            <a:xfrm>
              <a:off x="6530150" y="5557554"/>
              <a:ext cx="1393421" cy="165578"/>
            </a:xfrm>
            <a:prstGeom prst="right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68137AF-7CC5-CAB9-B766-687C44E34C14}"/>
                </a:ext>
              </a:extLst>
            </p:cNvPr>
            <p:cNvSpPr txBox="1"/>
            <p:nvPr/>
          </p:nvSpPr>
          <p:spPr>
            <a:xfrm>
              <a:off x="6340963" y="5714897"/>
              <a:ext cx="1795188" cy="49244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dirty="0" err="1">
                  <a:solidFill>
                    <a:schemeClr val="bg1">
                      <a:lumMod val="50000"/>
                    </a:schemeClr>
                  </a:solidFill>
                  <a:latin typeface="Ayuthaya" pitchFamily="2" charset="-34"/>
                  <a:ea typeface="Ayuthaya" pitchFamily="2" charset="-34"/>
                  <a:cs typeface="Ayuthaya" pitchFamily="2" charset="-34"/>
                </a:rPr>
                <a:t>ClusterProfiler</a:t>
              </a:r>
              <a:br>
                <a:rPr lang="en-US" sz="1300" dirty="0">
                  <a:solidFill>
                    <a:schemeClr val="bg1">
                      <a:lumMod val="50000"/>
                    </a:schemeClr>
                  </a:solidFill>
                  <a:latin typeface="Ayuthaya" pitchFamily="2" charset="-34"/>
                  <a:ea typeface="Ayuthaya" pitchFamily="2" charset="-34"/>
                  <a:cs typeface="Ayuthaya" pitchFamily="2" charset="-34"/>
                </a:rPr>
              </a:br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  <a:latin typeface="Ayuthaya" pitchFamily="2" charset="-34"/>
                  <a:ea typeface="Ayuthaya" pitchFamily="2" charset="-34"/>
                  <a:cs typeface="Ayuthaya" pitchFamily="2" charset="-34"/>
                </a:rPr>
                <a:t>(R)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2B06B48-5C8A-8242-668B-00208CCFBBE7}"/>
                </a:ext>
              </a:extLst>
            </p:cNvPr>
            <p:cNvSpPr txBox="1"/>
            <p:nvPr/>
          </p:nvSpPr>
          <p:spPr>
            <a:xfrm>
              <a:off x="6361283" y="4714365"/>
              <a:ext cx="1680277" cy="83099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Functional enrichment analysis</a:t>
              </a:r>
            </a:p>
          </p:txBody>
        </p:sp>
        <p:sp>
          <p:nvSpPr>
            <p:cNvPr id="61" name="Right Arrow 60">
              <a:extLst>
                <a:ext uri="{FF2B5EF4-FFF2-40B4-BE49-F238E27FC236}">
                  <a16:creationId xmlns:a16="http://schemas.microsoft.com/office/drawing/2014/main" id="{135AE84B-9B3D-B4D4-865E-A3A0412C6C50}"/>
                </a:ext>
              </a:extLst>
            </p:cNvPr>
            <p:cNvSpPr/>
            <p:nvPr/>
          </p:nvSpPr>
          <p:spPr>
            <a:xfrm rot="5400000">
              <a:off x="3326162" y="1694623"/>
              <a:ext cx="642670" cy="185181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ight Arrow 61">
              <a:extLst>
                <a:ext uri="{FF2B5EF4-FFF2-40B4-BE49-F238E27FC236}">
                  <a16:creationId xmlns:a16="http://schemas.microsoft.com/office/drawing/2014/main" id="{69330A70-C983-2DEE-7500-E1E63A742E56}"/>
                </a:ext>
              </a:extLst>
            </p:cNvPr>
            <p:cNvSpPr/>
            <p:nvPr/>
          </p:nvSpPr>
          <p:spPr>
            <a:xfrm rot="5400000">
              <a:off x="3305495" y="1759197"/>
              <a:ext cx="642670" cy="185181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ight Arrow 62">
              <a:extLst>
                <a:ext uri="{FF2B5EF4-FFF2-40B4-BE49-F238E27FC236}">
                  <a16:creationId xmlns:a16="http://schemas.microsoft.com/office/drawing/2014/main" id="{2D59670B-9FE0-A4F9-E382-66F806C4E287}"/>
                </a:ext>
              </a:extLst>
            </p:cNvPr>
            <p:cNvSpPr/>
            <p:nvPr/>
          </p:nvSpPr>
          <p:spPr>
            <a:xfrm rot="5400000">
              <a:off x="3278321" y="1815198"/>
              <a:ext cx="642670" cy="185181"/>
            </a:xfrm>
            <a:prstGeom prst="right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ight Arrow 69">
              <a:extLst>
                <a:ext uri="{FF2B5EF4-FFF2-40B4-BE49-F238E27FC236}">
                  <a16:creationId xmlns:a16="http://schemas.microsoft.com/office/drawing/2014/main" id="{25643117-F1EA-86C7-963E-FB94EBBBDB7C}"/>
                </a:ext>
              </a:extLst>
            </p:cNvPr>
            <p:cNvSpPr/>
            <p:nvPr/>
          </p:nvSpPr>
          <p:spPr>
            <a:xfrm rot="5400000">
              <a:off x="3299454" y="3236672"/>
              <a:ext cx="642670" cy="185181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ight Arrow 70">
              <a:extLst>
                <a:ext uri="{FF2B5EF4-FFF2-40B4-BE49-F238E27FC236}">
                  <a16:creationId xmlns:a16="http://schemas.microsoft.com/office/drawing/2014/main" id="{E964D513-DEE9-AA47-69FD-55BE830E4335}"/>
                </a:ext>
              </a:extLst>
            </p:cNvPr>
            <p:cNvSpPr/>
            <p:nvPr/>
          </p:nvSpPr>
          <p:spPr>
            <a:xfrm rot="5400000">
              <a:off x="3278787" y="3301246"/>
              <a:ext cx="642670" cy="185181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ight Arrow 71">
              <a:extLst>
                <a:ext uri="{FF2B5EF4-FFF2-40B4-BE49-F238E27FC236}">
                  <a16:creationId xmlns:a16="http://schemas.microsoft.com/office/drawing/2014/main" id="{EDE5E55A-B002-0D95-9ABC-A49958A3BA65}"/>
                </a:ext>
              </a:extLst>
            </p:cNvPr>
            <p:cNvSpPr/>
            <p:nvPr/>
          </p:nvSpPr>
          <p:spPr>
            <a:xfrm rot="5400000">
              <a:off x="3251613" y="3357247"/>
              <a:ext cx="642670" cy="185181"/>
            </a:xfrm>
            <a:prstGeom prst="right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777E34F6-861E-3B2D-D087-A35F9AE379C3}"/>
                </a:ext>
              </a:extLst>
            </p:cNvPr>
            <p:cNvSpPr/>
            <p:nvPr/>
          </p:nvSpPr>
          <p:spPr>
            <a:xfrm>
              <a:off x="7790698" y="933409"/>
              <a:ext cx="876166" cy="48768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557BBA7-FD90-1705-B3E4-01342E9C6DBD}"/>
                </a:ext>
              </a:extLst>
            </p:cNvPr>
            <p:cNvSpPr txBox="1"/>
            <p:nvPr/>
          </p:nvSpPr>
          <p:spPr>
            <a:xfrm>
              <a:off x="7728706" y="890431"/>
              <a:ext cx="954832" cy="584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HTML</a:t>
              </a:r>
            </a:p>
            <a:p>
              <a:pPr algn="ctr"/>
              <a:r>
                <a:rPr lang="en-US" sz="1600" dirty="0"/>
                <a:t>report</a:t>
              </a:r>
            </a:p>
          </p:txBody>
        </p:sp>
        <p:sp>
          <p:nvSpPr>
            <p:cNvPr id="77" name="Bent-Up Arrow 76">
              <a:extLst>
                <a:ext uri="{FF2B5EF4-FFF2-40B4-BE49-F238E27FC236}">
                  <a16:creationId xmlns:a16="http://schemas.microsoft.com/office/drawing/2014/main" id="{FBAD2287-931C-90F4-F1A8-36F7AD26BD0E}"/>
                </a:ext>
              </a:extLst>
            </p:cNvPr>
            <p:cNvSpPr/>
            <p:nvPr/>
          </p:nvSpPr>
          <p:spPr>
            <a:xfrm>
              <a:off x="4583690" y="1553190"/>
              <a:ext cx="715231" cy="1111494"/>
            </a:xfrm>
            <a:prstGeom prst="bentUpArrow">
              <a:avLst>
                <a:gd name="adj1" fmla="val 12803"/>
                <a:gd name="adj2" fmla="val 19857"/>
                <a:gd name="adj3" fmla="val 20592"/>
              </a:avLst>
            </a:prstGeom>
            <a:pattFill prst="narHorz">
              <a:fgClr>
                <a:schemeClr val="bg1">
                  <a:lumMod val="65000"/>
                </a:schemeClr>
              </a:fgClr>
              <a:bgClr>
                <a:schemeClr val="bg1"/>
              </a:bgClr>
            </a:pattFill>
            <a:ln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ounded Rectangle 77">
              <a:extLst>
                <a:ext uri="{FF2B5EF4-FFF2-40B4-BE49-F238E27FC236}">
                  <a16:creationId xmlns:a16="http://schemas.microsoft.com/office/drawing/2014/main" id="{9C151337-992E-642C-AB3B-04F7FC44B21F}"/>
                </a:ext>
              </a:extLst>
            </p:cNvPr>
            <p:cNvSpPr/>
            <p:nvPr/>
          </p:nvSpPr>
          <p:spPr>
            <a:xfrm>
              <a:off x="8108057" y="5365952"/>
              <a:ext cx="1004693" cy="66174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196C27A-378C-529E-3228-A9F1D2BACB2D}"/>
                </a:ext>
              </a:extLst>
            </p:cNvPr>
            <p:cNvSpPr txBox="1"/>
            <p:nvPr/>
          </p:nvSpPr>
          <p:spPr>
            <a:xfrm>
              <a:off x="8145411" y="5442919"/>
              <a:ext cx="954832" cy="584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Enriched functions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B8F07CFF-65F2-87E3-8643-52A5DF0E8C11}"/>
                </a:ext>
              </a:extLst>
            </p:cNvPr>
            <p:cNvSpPr/>
            <p:nvPr/>
          </p:nvSpPr>
          <p:spPr>
            <a:xfrm>
              <a:off x="4420714" y="4443598"/>
              <a:ext cx="4811682" cy="1819201"/>
            </a:xfrm>
            <a:custGeom>
              <a:avLst/>
              <a:gdLst>
                <a:gd name="connsiteX0" fmla="*/ 0 w 4811682"/>
                <a:gd name="connsiteY0" fmla="*/ 0 h 1819201"/>
                <a:gd name="connsiteX1" fmla="*/ 486515 w 4811682"/>
                <a:gd name="connsiteY1" fmla="*/ 0 h 1819201"/>
                <a:gd name="connsiteX2" fmla="*/ 876795 w 4811682"/>
                <a:gd name="connsiteY2" fmla="*/ 0 h 1819201"/>
                <a:gd name="connsiteX3" fmla="*/ 1507660 w 4811682"/>
                <a:gd name="connsiteY3" fmla="*/ 0 h 1819201"/>
                <a:gd name="connsiteX4" fmla="*/ 1994175 w 4811682"/>
                <a:gd name="connsiteY4" fmla="*/ 0 h 1819201"/>
                <a:gd name="connsiteX5" fmla="*/ 2480689 w 4811682"/>
                <a:gd name="connsiteY5" fmla="*/ 0 h 1819201"/>
                <a:gd name="connsiteX6" fmla="*/ 3111554 w 4811682"/>
                <a:gd name="connsiteY6" fmla="*/ 0 h 1819201"/>
                <a:gd name="connsiteX7" fmla="*/ 3549952 w 4811682"/>
                <a:gd name="connsiteY7" fmla="*/ 0 h 1819201"/>
                <a:gd name="connsiteX8" fmla="*/ 4180817 w 4811682"/>
                <a:gd name="connsiteY8" fmla="*/ 0 h 1819201"/>
                <a:gd name="connsiteX9" fmla="*/ 4811682 w 4811682"/>
                <a:gd name="connsiteY9" fmla="*/ 0 h 1819201"/>
                <a:gd name="connsiteX10" fmla="*/ 4811682 w 4811682"/>
                <a:gd name="connsiteY10" fmla="*/ 454800 h 1819201"/>
                <a:gd name="connsiteX11" fmla="*/ 4811682 w 4811682"/>
                <a:gd name="connsiteY11" fmla="*/ 909601 h 1819201"/>
                <a:gd name="connsiteX12" fmla="*/ 4811682 w 4811682"/>
                <a:gd name="connsiteY12" fmla="*/ 1382593 h 1819201"/>
                <a:gd name="connsiteX13" fmla="*/ 4811682 w 4811682"/>
                <a:gd name="connsiteY13" fmla="*/ 1819201 h 1819201"/>
                <a:gd name="connsiteX14" fmla="*/ 4277051 w 4811682"/>
                <a:gd name="connsiteY14" fmla="*/ 1819201 h 1819201"/>
                <a:gd name="connsiteX15" fmla="*/ 3838653 w 4811682"/>
                <a:gd name="connsiteY15" fmla="*/ 1819201 h 1819201"/>
                <a:gd name="connsiteX16" fmla="*/ 3304022 w 4811682"/>
                <a:gd name="connsiteY16" fmla="*/ 1819201 h 1819201"/>
                <a:gd name="connsiteX17" fmla="*/ 2673157 w 4811682"/>
                <a:gd name="connsiteY17" fmla="*/ 1819201 h 1819201"/>
                <a:gd name="connsiteX18" fmla="*/ 2138525 w 4811682"/>
                <a:gd name="connsiteY18" fmla="*/ 1819201 h 1819201"/>
                <a:gd name="connsiteX19" fmla="*/ 1748244 w 4811682"/>
                <a:gd name="connsiteY19" fmla="*/ 1819201 h 1819201"/>
                <a:gd name="connsiteX20" fmla="*/ 1309847 w 4811682"/>
                <a:gd name="connsiteY20" fmla="*/ 1819201 h 1819201"/>
                <a:gd name="connsiteX21" fmla="*/ 678982 w 4811682"/>
                <a:gd name="connsiteY21" fmla="*/ 1819201 h 1819201"/>
                <a:gd name="connsiteX22" fmla="*/ 0 w 4811682"/>
                <a:gd name="connsiteY22" fmla="*/ 1819201 h 1819201"/>
                <a:gd name="connsiteX23" fmla="*/ 0 w 4811682"/>
                <a:gd name="connsiteY23" fmla="*/ 1400785 h 1819201"/>
                <a:gd name="connsiteX24" fmla="*/ 0 w 4811682"/>
                <a:gd name="connsiteY24" fmla="*/ 964177 h 1819201"/>
                <a:gd name="connsiteX25" fmla="*/ 0 w 4811682"/>
                <a:gd name="connsiteY25" fmla="*/ 563952 h 1819201"/>
                <a:gd name="connsiteX26" fmla="*/ 0 w 4811682"/>
                <a:gd name="connsiteY26" fmla="*/ 0 h 181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11682" h="1819201" extrusionOk="0">
                  <a:moveTo>
                    <a:pt x="0" y="0"/>
                  </a:moveTo>
                  <a:cubicBezTo>
                    <a:pt x="218334" y="-189"/>
                    <a:pt x="380641" y="51265"/>
                    <a:pt x="486515" y="0"/>
                  </a:cubicBezTo>
                  <a:cubicBezTo>
                    <a:pt x="592389" y="-51265"/>
                    <a:pt x="792553" y="40169"/>
                    <a:pt x="876795" y="0"/>
                  </a:cubicBezTo>
                  <a:cubicBezTo>
                    <a:pt x="961037" y="-40169"/>
                    <a:pt x="1357964" y="23510"/>
                    <a:pt x="1507660" y="0"/>
                  </a:cubicBezTo>
                  <a:cubicBezTo>
                    <a:pt x="1657356" y="-23510"/>
                    <a:pt x="1815621" y="5944"/>
                    <a:pt x="1994175" y="0"/>
                  </a:cubicBezTo>
                  <a:cubicBezTo>
                    <a:pt x="2172730" y="-5944"/>
                    <a:pt x="2366418" y="39011"/>
                    <a:pt x="2480689" y="0"/>
                  </a:cubicBezTo>
                  <a:cubicBezTo>
                    <a:pt x="2594960" y="-39011"/>
                    <a:pt x="2902283" y="13541"/>
                    <a:pt x="3111554" y="0"/>
                  </a:cubicBezTo>
                  <a:cubicBezTo>
                    <a:pt x="3320825" y="-13541"/>
                    <a:pt x="3412121" y="8766"/>
                    <a:pt x="3549952" y="0"/>
                  </a:cubicBezTo>
                  <a:cubicBezTo>
                    <a:pt x="3687783" y="-8766"/>
                    <a:pt x="3875706" y="31961"/>
                    <a:pt x="4180817" y="0"/>
                  </a:cubicBezTo>
                  <a:cubicBezTo>
                    <a:pt x="4485929" y="-31961"/>
                    <a:pt x="4681320" y="39388"/>
                    <a:pt x="4811682" y="0"/>
                  </a:cubicBezTo>
                  <a:cubicBezTo>
                    <a:pt x="4826213" y="201649"/>
                    <a:pt x="4790439" y="300112"/>
                    <a:pt x="4811682" y="454800"/>
                  </a:cubicBezTo>
                  <a:cubicBezTo>
                    <a:pt x="4832925" y="609488"/>
                    <a:pt x="4759461" y="797565"/>
                    <a:pt x="4811682" y="909601"/>
                  </a:cubicBezTo>
                  <a:cubicBezTo>
                    <a:pt x="4863903" y="1021637"/>
                    <a:pt x="4786338" y="1285488"/>
                    <a:pt x="4811682" y="1382593"/>
                  </a:cubicBezTo>
                  <a:cubicBezTo>
                    <a:pt x="4837026" y="1479698"/>
                    <a:pt x="4768671" y="1624544"/>
                    <a:pt x="4811682" y="1819201"/>
                  </a:cubicBezTo>
                  <a:cubicBezTo>
                    <a:pt x="4581711" y="1856815"/>
                    <a:pt x="4424420" y="1810322"/>
                    <a:pt x="4277051" y="1819201"/>
                  </a:cubicBezTo>
                  <a:cubicBezTo>
                    <a:pt x="4129682" y="1828080"/>
                    <a:pt x="3971750" y="1814606"/>
                    <a:pt x="3838653" y="1819201"/>
                  </a:cubicBezTo>
                  <a:cubicBezTo>
                    <a:pt x="3705556" y="1823796"/>
                    <a:pt x="3426717" y="1786471"/>
                    <a:pt x="3304022" y="1819201"/>
                  </a:cubicBezTo>
                  <a:cubicBezTo>
                    <a:pt x="3181327" y="1851931"/>
                    <a:pt x="2800441" y="1810942"/>
                    <a:pt x="2673157" y="1819201"/>
                  </a:cubicBezTo>
                  <a:cubicBezTo>
                    <a:pt x="2545874" y="1827460"/>
                    <a:pt x="2318527" y="1779404"/>
                    <a:pt x="2138525" y="1819201"/>
                  </a:cubicBezTo>
                  <a:cubicBezTo>
                    <a:pt x="1958523" y="1858998"/>
                    <a:pt x="1838342" y="1784870"/>
                    <a:pt x="1748244" y="1819201"/>
                  </a:cubicBezTo>
                  <a:cubicBezTo>
                    <a:pt x="1658146" y="1853532"/>
                    <a:pt x="1450685" y="1780167"/>
                    <a:pt x="1309847" y="1819201"/>
                  </a:cubicBezTo>
                  <a:cubicBezTo>
                    <a:pt x="1169009" y="1858235"/>
                    <a:pt x="982120" y="1744767"/>
                    <a:pt x="678982" y="1819201"/>
                  </a:cubicBezTo>
                  <a:cubicBezTo>
                    <a:pt x="375844" y="1893635"/>
                    <a:pt x="232733" y="1800184"/>
                    <a:pt x="0" y="1819201"/>
                  </a:cubicBezTo>
                  <a:cubicBezTo>
                    <a:pt x="-18582" y="1674917"/>
                    <a:pt x="24330" y="1501734"/>
                    <a:pt x="0" y="1400785"/>
                  </a:cubicBezTo>
                  <a:cubicBezTo>
                    <a:pt x="-24330" y="1299836"/>
                    <a:pt x="44900" y="1179485"/>
                    <a:pt x="0" y="964177"/>
                  </a:cubicBezTo>
                  <a:cubicBezTo>
                    <a:pt x="-44900" y="748869"/>
                    <a:pt x="5205" y="747741"/>
                    <a:pt x="0" y="563952"/>
                  </a:cubicBezTo>
                  <a:cubicBezTo>
                    <a:pt x="-5205" y="380163"/>
                    <a:pt x="28909" y="115950"/>
                    <a:pt x="0" y="0"/>
                  </a:cubicBezTo>
                  <a:close/>
                </a:path>
              </a:pathLst>
            </a:cu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23254C9-AAC0-B6AE-4679-741044FA4266}"/>
                </a:ext>
              </a:extLst>
            </p:cNvPr>
            <p:cNvSpPr txBox="1"/>
            <p:nvPr/>
          </p:nvSpPr>
          <p:spPr>
            <a:xfrm>
              <a:off x="8091364" y="4422483"/>
              <a:ext cx="954832" cy="4001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i="1" u="sng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Bradley Hand" pitchFamily="2" charset="77"/>
                </a:rPr>
                <a:t>Part II</a:t>
              </a:r>
            </a:p>
          </p:txBody>
        </p:sp>
        <p:sp>
          <p:nvSpPr>
            <p:cNvPr id="2" name="Right Arrow 1">
              <a:extLst>
                <a:ext uri="{FF2B5EF4-FFF2-40B4-BE49-F238E27FC236}">
                  <a16:creationId xmlns:a16="http://schemas.microsoft.com/office/drawing/2014/main" id="{373FF395-352B-0D43-6F11-2965F97EBE5F}"/>
                </a:ext>
              </a:extLst>
            </p:cNvPr>
            <p:cNvSpPr/>
            <p:nvPr/>
          </p:nvSpPr>
          <p:spPr>
            <a:xfrm rot="5400000">
              <a:off x="3272705" y="4776321"/>
              <a:ext cx="642670" cy="185181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ight Arrow 2">
              <a:extLst>
                <a:ext uri="{FF2B5EF4-FFF2-40B4-BE49-F238E27FC236}">
                  <a16:creationId xmlns:a16="http://schemas.microsoft.com/office/drawing/2014/main" id="{F01C3961-0311-1DB8-E01E-6CF2D374C8F8}"/>
                </a:ext>
              </a:extLst>
            </p:cNvPr>
            <p:cNvSpPr/>
            <p:nvPr/>
          </p:nvSpPr>
          <p:spPr>
            <a:xfrm rot="5400000">
              <a:off x="3252038" y="4840895"/>
              <a:ext cx="642670" cy="185181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A6674A10-0840-E74C-669B-A6303C63167B}"/>
                </a:ext>
              </a:extLst>
            </p:cNvPr>
            <p:cNvSpPr/>
            <p:nvPr/>
          </p:nvSpPr>
          <p:spPr>
            <a:xfrm rot="5400000">
              <a:off x="3224864" y="4896896"/>
              <a:ext cx="642670" cy="185181"/>
            </a:xfrm>
            <a:prstGeom prst="right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2FF6DF-65E7-E34B-0BC3-627775658E19}"/>
                </a:ext>
              </a:extLst>
            </p:cNvPr>
            <p:cNvSpPr txBox="1"/>
            <p:nvPr/>
          </p:nvSpPr>
          <p:spPr>
            <a:xfrm>
              <a:off x="7960931" y="2428336"/>
              <a:ext cx="1102481" cy="4001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i="1" u="sng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Bradley Hand" pitchFamily="2" charset="77"/>
                  <a:ea typeface="Ayuthaya" pitchFamily="2" charset="-34"/>
                  <a:cs typeface="Ayuthaya" pitchFamily="2" charset="-34"/>
                </a:rPr>
                <a:t>Part I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F5CD3F5-B554-EC31-307B-99A9395B2A69}"/>
                </a:ext>
              </a:extLst>
            </p:cNvPr>
            <p:cNvSpPr txBox="1"/>
            <p:nvPr/>
          </p:nvSpPr>
          <p:spPr>
            <a:xfrm>
              <a:off x="7820034" y="2728464"/>
              <a:ext cx="1424831" cy="6155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Bradley Hand" pitchFamily="2" charset="77"/>
                  <a:ea typeface="Ayuthaya" pitchFamily="2" charset="-34"/>
                  <a:cs typeface="Ayuthaya" pitchFamily="2" charset="-34"/>
                </a:rPr>
                <a:t>Algorithmic processing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269F394-38DA-A085-FC65-8840FE448D70}"/>
                </a:ext>
              </a:extLst>
            </p:cNvPr>
            <p:cNvSpPr txBox="1"/>
            <p:nvPr/>
          </p:nvSpPr>
          <p:spPr>
            <a:xfrm>
              <a:off x="7866688" y="4710478"/>
              <a:ext cx="1451193" cy="6155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Bradley Hand" pitchFamily="2" charset="77"/>
                </a:rPr>
                <a:t>Statistical analysis</a:t>
              </a: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31C5A9DB-0654-F52C-B009-0FBB371709EC}"/>
                </a:ext>
              </a:extLst>
            </p:cNvPr>
            <p:cNvSpPr/>
            <p:nvPr/>
          </p:nvSpPr>
          <p:spPr>
            <a:xfrm>
              <a:off x="5695551" y="5400543"/>
              <a:ext cx="715760" cy="48768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D9E3973-DB78-CA81-7601-0B743AAC4C5D}"/>
                </a:ext>
              </a:extLst>
            </p:cNvPr>
            <p:cNvSpPr txBox="1"/>
            <p:nvPr/>
          </p:nvSpPr>
          <p:spPr>
            <a:xfrm>
              <a:off x="5732904" y="5477509"/>
              <a:ext cx="678406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DEGs</a:t>
              </a:r>
            </a:p>
          </p:txBody>
        </p:sp>
        <p:sp>
          <p:nvSpPr>
            <p:cNvPr id="25" name="Bent-Up Arrow 24">
              <a:extLst>
                <a:ext uri="{FF2B5EF4-FFF2-40B4-BE49-F238E27FC236}">
                  <a16:creationId xmlns:a16="http://schemas.microsoft.com/office/drawing/2014/main" id="{CC4A9104-AD68-2378-1453-309C303A0F4B}"/>
                </a:ext>
              </a:extLst>
            </p:cNvPr>
            <p:cNvSpPr/>
            <p:nvPr/>
          </p:nvSpPr>
          <p:spPr>
            <a:xfrm>
              <a:off x="4567044" y="1567216"/>
              <a:ext cx="2741209" cy="2605636"/>
            </a:xfrm>
            <a:prstGeom prst="bentUpArrow">
              <a:avLst>
                <a:gd name="adj1" fmla="val 4332"/>
                <a:gd name="adj2" fmla="val 5940"/>
                <a:gd name="adj3" fmla="val 6071"/>
              </a:avLst>
            </a:prstGeom>
            <a:pattFill prst="narHorz">
              <a:fgClr>
                <a:schemeClr val="bg1">
                  <a:lumMod val="65000"/>
                </a:schemeClr>
              </a:fgClr>
              <a:bgClr>
                <a:schemeClr val="bg1"/>
              </a:bgClr>
            </a:pattFill>
            <a:ln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81017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F159B-7F70-41F8-A55A-C7C30E9E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D36A07BF-4C26-64A7-EF9B-9FEA7DF0EB1F}"/>
              </a:ext>
            </a:extLst>
          </p:cNvPr>
          <p:cNvGrpSpPr/>
          <p:nvPr/>
        </p:nvGrpSpPr>
        <p:grpSpPr>
          <a:xfrm>
            <a:off x="2575034" y="595201"/>
            <a:ext cx="6784577" cy="5821534"/>
            <a:chOff x="2575034" y="595201"/>
            <a:chExt cx="6784577" cy="5821534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B5B32B7F-C5D4-C5F4-F6A7-A43DF98818AD}"/>
                </a:ext>
              </a:extLst>
            </p:cNvPr>
            <p:cNvSpPr/>
            <p:nvPr/>
          </p:nvSpPr>
          <p:spPr>
            <a:xfrm>
              <a:off x="2575034" y="595201"/>
              <a:ext cx="6784577" cy="58215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9CB6A433-9249-A54D-E6FE-7F9C9909B619}"/>
                </a:ext>
              </a:extLst>
            </p:cNvPr>
            <p:cNvSpPr/>
            <p:nvPr/>
          </p:nvSpPr>
          <p:spPr>
            <a:xfrm>
              <a:off x="5796348" y="804364"/>
              <a:ext cx="876166" cy="48768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  <a:alpha val="2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CDC97EC4-8C69-0696-60F5-E62E8367F406}"/>
                </a:ext>
              </a:extLst>
            </p:cNvPr>
            <p:cNvSpPr/>
            <p:nvPr/>
          </p:nvSpPr>
          <p:spPr>
            <a:xfrm>
              <a:off x="5752435" y="857837"/>
              <a:ext cx="876166" cy="48768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ight Arrow 17">
              <a:extLst>
                <a:ext uri="{FF2B5EF4-FFF2-40B4-BE49-F238E27FC236}">
                  <a16:creationId xmlns:a16="http://schemas.microsoft.com/office/drawing/2014/main" id="{7561820E-57BD-72BC-CFA6-D757258E07ED}"/>
                </a:ext>
              </a:extLst>
            </p:cNvPr>
            <p:cNvSpPr/>
            <p:nvPr/>
          </p:nvSpPr>
          <p:spPr>
            <a:xfrm>
              <a:off x="4737829" y="961365"/>
              <a:ext cx="829056" cy="195072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6C1E9D18-8457-5DAE-A5F6-603A8AB7F8E4}"/>
                </a:ext>
              </a:extLst>
            </p:cNvPr>
            <p:cNvSpPr/>
            <p:nvPr/>
          </p:nvSpPr>
          <p:spPr>
            <a:xfrm>
              <a:off x="4717162" y="1025939"/>
              <a:ext cx="829056" cy="195072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5153B903-F2C4-2EC7-536D-EE2C44C95978}"/>
                </a:ext>
              </a:extLst>
            </p:cNvPr>
            <p:cNvSpPr/>
            <p:nvPr/>
          </p:nvSpPr>
          <p:spPr>
            <a:xfrm>
              <a:off x="3072895" y="824876"/>
              <a:ext cx="1402080" cy="48768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  <a:alpha val="34212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73B108B3-3312-0758-9AE5-899DF095BC86}"/>
                </a:ext>
              </a:extLst>
            </p:cNvPr>
            <p:cNvSpPr/>
            <p:nvPr/>
          </p:nvSpPr>
          <p:spPr>
            <a:xfrm>
              <a:off x="3001396" y="891932"/>
              <a:ext cx="1402080" cy="48768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AD763566-89D4-F8A4-4A88-7169671F89C4}"/>
                </a:ext>
              </a:extLst>
            </p:cNvPr>
            <p:cNvSpPr/>
            <p:nvPr/>
          </p:nvSpPr>
          <p:spPr>
            <a:xfrm>
              <a:off x="2934340" y="958988"/>
              <a:ext cx="1402080" cy="48768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61C29BE-9C27-A5E5-04E3-904B837E271E}"/>
                </a:ext>
              </a:extLst>
            </p:cNvPr>
            <p:cNvSpPr txBox="1"/>
            <p:nvPr/>
          </p:nvSpPr>
          <p:spPr>
            <a:xfrm>
              <a:off x="2934340" y="1027094"/>
              <a:ext cx="1360714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FASTQ</a:t>
              </a:r>
            </a:p>
          </p:txBody>
        </p:sp>
        <p:sp>
          <p:nvSpPr>
            <p:cNvPr id="9" name="Right Arrow 8">
              <a:extLst>
                <a:ext uri="{FF2B5EF4-FFF2-40B4-BE49-F238E27FC236}">
                  <a16:creationId xmlns:a16="http://schemas.microsoft.com/office/drawing/2014/main" id="{296E1A2C-3165-4086-2D93-C2FDA7D2BDF5}"/>
                </a:ext>
              </a:extLst>
            </p:cNvPr>
            <p:cNvSpPr/>
            <p:nvPr/>
          </p:nvSpPr>
          <p:spPr>
            <a:xfrm>
              <a:off x="4689988" y="1081940"/>
              <a:ext cx="829056" cy="195072"/>
            </a:xfrm>
            <a:prstGeom prst="right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461AB44-2FFC-AAAC-2CF8-1F29DF011271}"/>
                </a:ext>
              </a:extLst>
            </p:cNvPr>
            <p:cNvSpPr txBox="1"/>
            <p:nvPr/>
          </p:nvSpPr>
          <p:spPr>
            <a:xfrm>
              <a:off x="4632810" y="692760"/>
              <a:ext cx="938784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QC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2318DC8-4004-D8FF-2289-2DF18733904D}"/>
                </a:ext>
              </a:extLst>
            </p:cNvPr>
            <p:cNvSpPr txBox="1"/>
            <p:nvPr/>
          </p:nvSpPr>
          <p:spPr>
            <a:xfrm>
              <a:off x="4513204" y="1243714"/>
              <a:ext cx="1188720" cy="2923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dirty="0" err="1">
                  <a:solidFill>
                    <a:schemeClr val="bg1">
                      <a:lumMod val="50000"/>
                    </a:schemeClr>
                  </a:solidFill>
                  <a:latin typeface="Ayuthaya" pitchFamily="2" charset="-34"/>
                  <a:ea typeface="Ayuthaya" pitchFamily="2" charset="-34"/>
                  <a:cs typeface="Ayuthaya" pitchFamily="2" charset="-34"/>
                </a:rPr>
                <a:t>FastQC</a:t>
              </a:r>
              <a:endParaRPr lang="en-US" sz="1300" dirty="0">
                <a:solidFill>
                  <a:schemeClr val="bg1">
                    <a:lumMod val="50000"/>
                  </a:schemeClr>
                </a:solidFill>
                <a:latin typeface="Ayuthaya" pitchFamily="2" charset="-34"/>
                <a:ea typeface="Ayuthaya" pitchFamily="2" charset="-34"/>
                <a:cs typeface="Ayuthaya" pitchFamily="2" charset="-34"/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2CE6024A-6180-5E40-6465-5B9621BB6E75}"/>
                </a:ext>
              </a:extLst>
            </p:cNvPr>
            <p:cNvSpPr/>
            <p:nvPr/>
          </p:nvSpPr>
          <p:spPr>
            <a:xfrm>
              <a:off x="5677525" y="922412"/>
              <a:ext cx="876166" cy="48768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12093CE-1F44-7185-A9EF-7EBC97A53FDC}"/>
                </a:ext>
              </a:extLst>
            </p:cNvPr>
            <p:cNvSpPr txBox="1"/>
            <p:nvPr/>
          </p:nvSpPr>
          <p:spPr>
            <a:xfrm>
              <a:off x="5660699" y="889626"/>
              <a:ext cx="954832" cy="584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HTML</a:t>
              </a:r>
            </a:p>
            <a:p>
              <a:pPr algn="ctr"/>
              <a:r>
                <a:rPr lang="en-US" sz="1600" dirty="0"/>
                <a:t>reports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9D9BAA1-C0CC-92F5-CCDD-97D9F2446084}"/>
                </a:ext>
              </a:extLst>
            </p:cNvPr>
            <p:cNvSpPr txBox="1"/>
            <p:nvPr/>
          </p:nvSpPr>
          <p:spPr>
            <a:xfrm>
              <a:off x="6771237" y="1261893"/>
              <a:ext cx="1188720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300" dirty="0" err="1">
                  <a:solidFill>
                    <a:schemeClr val="bg1">
                      <a:lumMod val="50000"/>
                    </a:schemeClr>
                  </a:solidFill>
                  <a:latin typeface="Ayuthaya" pitchFamily="2" charset="-34"/>
                  <a:ea typeface="Ayuthaya" pitchFamily="2" charset="-34"/>
                  <a:cs typeface="Ayuthaya" pitchFamily="2" charset="-34"/>
                </a:rPr>
                <a:t>MultiQC</a:t>
              </a:r>
              <a:endParaRPr lang="en-US" sz="1300" dirty="0">
                <a:solidFill>
                  <a:schemeClr val="bg1">
                    <a:lumMod val="50000"/>
                  </a:schemeClr>
                </a:solidFill>
                <a:latin typeface="Ayuthaya" pitchFamily="2" charset="-34"/>
                <a:ea typeface="Ayuthaya" pitchFamily="2" charset="-34"/>
                <a:cs typeface="Ayuthaya" pitchFamily="2" charset="-34"/>
              </a:endParaRPr>
            </a:p>
          </p:txBody>
        </p:sp>
        <p:sp>
          <p:nvSpPr>
            <p:cNvPr id="19" name="Right Arrow 18">
              <a:extLst>
                <a:ext uri="{FF2B5EF4-FFF2-40B4-BE49-F238E27FC236}">
                  <a16:creationId xmlns:a16="http://schemas.microsoft.com/office/drawing/2014/main" id="{C622F4C2-5CCA-32B3-39DF-5AAF42B64366}"/>
                </a:ext>
              </a:extLst>
            </p:cNvPr>
            <p:cNvSpPr/>
            <p:nvPr/>
          </p:nvSpPr>
          <p:spPr>
            <a:xfrm>
              <a:off x="6837570" y="1053218"/>
              <a:ext cx="829056" cy="195072"/>
            </a:xfrm>
            <a:prstGeom prst="right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6D4EF21-5C01-87C0-2D6D-7BC12A916743}"/>
                </a:ext>
              </a:extLst>
            </p:cNvPr>
            <p:cNvSpPr txBox="1"/>
            <p:nvPr/>
          </p:nvSpPr>
          <p:spPr>
            <a:xfrm>
              <a:off x="6719573" y="700528"/>
              <a:ext cx="1122601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summarize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12C1550-619E-5204-A3BB-378EF2438D93}"/>
                </a:ext>
              </a:extLst>
            </p:cNvPr>
            <p:cNvSpPr txBox="1"/>
            <p:nvPr/>
          </p:nvSpPr>
          <p:spPr>
            <a:xfrm>
              <a:off x="2675913" y="1681485"/>
              <a:ext cx="938784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trim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C65BC61-2618-F6A2-355F-7AB2C4AB90FD}"/>
                </a:ext>
              </a:extLst>
            </p:cNvPr>
            <p:cNvSpPr txBox="1"/>
            <p:nvPr/>
          </p:nvSpPr>
          <p:spPr>
            <a:xfrm>
              <a:off x="3425837" y="1580154"/>
              <a:ext cx="1402080" cy="49244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  <a:latin typeface="Ayuthaya" pitchFamily="2" charset="-34"/>
                  <a:ea typeface="Ayuthaya" pitchFamily="2" charset="-34"/>
                  <a:cs typeface="Ayuthaya" pitchFamily="2" charset="-34"/>
                </a:rPr>
                <a:t>Trim-</a:t>
              </a:r>
              <a:br>
                <a:rPr lang="en-US" sz="1300" dirty="0">
                  <a:solidFill>
                    <a:schemeClr val="bg1">
                      <a:lumMod val="50000"/>
                    </a:schemeClr>
                  </a:solidFill>
                  <a:latin typeface="Ayuthaya" pitchFamily="2" charset="-34"/>
                  <a:ea typeface="Ayuthaya" pitchFamily="2" charset="-34"/>
                  <a:cs typeface="Ayuthaya" pitchFamily="2" charset="-34"/>
                </a:rPr>
              </a:br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  <a:latin typeface="Ayuthaya" pitchFamily="2" charset="-34"/>
                  <a:ea typeface="Ayuthaya" pitchFamily="2" charset="-34"/>
                  <a:cs typeface="Ayuthaya" pitchFamily="2" charset="-34"/>
                </a:rPr>
                <a:t>Galore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C8B0C182-32DD-4AE4-1999-E2F9653467BA}"/>
                </a:ext>
              </a:extLst>
            </p:cNvPr>
            <p:cNvSpPr/>
            <p:nvPr/>
          </p:nvSpPr>
          <p:spPr>
            <a:xfrm>
              <a:off x="3018634" y="2304511"/>
              <a:ext cx="1402080" cy="487680"/>
            </a:xfrm>
            <a:prstGeom prst="roundRect">
              <a:avLst/>
            </a:prstGeom>
            <a:solidFill>
              <a:srgbClr val="F4F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EB65F2F3-A2E6-F747-DB4F-7BA0128C80D3}"/>
                </a:ext>
              </a:extLst>
            </p:cNvPr>
            <p:cNvSpPr/>
            <p:nvPr/>
          </p:nvSpPr>
          <p:spPr>
            <a:xfrm>
              <a:off x="2947135" y="2371567"/>
              <a:ext cx="1402080" cy="48768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54B5651A-2077-8AE5-67A4-2FD85C868234}"/>
                </a:ext>
              </a:extLst>
            </p:cNvPr>
            <p:cNvSpPr/>
            <p:nvPr/>
          </p:nvSpPr>
          <p:spPr>
            <a:xfrm>
              <a:off x="2880079" y="2438623"/>
              <a:ext cx="1402080" cy="48768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1A2DA47-7636-FDFC-0FEC-300753D7742C}"/>
                </a:ext>
              </a:extLst>
            </p:cNvPr>
            <p:cNvSpPr txBox="1"/>
            <p:nvPr/>
          </p:nvSpPr>
          <p:spPr>
            <a:xfrm>
              <a:off x="2880079" y="2369474"/>
              <a:ext cx="1360714" cy="584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Processed FASTQ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7F8C2B8-5459-F189-3DC3-3A1CCD16AE30}"/>
                </a:ext>
              </a:extLst>
            </p:cNvPr>
            <p:cNvSpPr txBox="1"/>
            <p:nvPr/>
          </p:nvSpPr>
          <p:spPr>
            <a:xfrm>
              <a:off x="3281887" y="3281068"/>
              <a:ext cx="1402080" cy="2923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  <a:latin typeface="Ayuthaya" pitchFamily="2" charset="-34"/>
                  <a:ea typeface="Ayuthaya" pitchFamily="2" charset="-34"/>
                  <a:cs typeface="Ayuthaya" pitchFamily="2" charset="-34"/>
                </a:rPr>
                <a:t>STAR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85B19F4-81BF-4B6C-BE63-7683BCA11ED8}"/>
                </a:ext>
              </a:extLst>
            </p:cNvPr>
            <p:cNvSpPr txBox="1"/>
            <p:nvPr/>
          </p:nvSpPr>
          <p:spPr>
            <a:xfrm>
              <a:off x="2773698" y="3212900"/>
              <a:ext cx="938784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align</a:t>
              </a:r>
            </a:p>
          </p:txBody>
        </p:sp>
        <p:sp>
          <p:nvSpPr>
            <p:cNvPr id="40" name="Direct Access Storage 39">
              <a:extLst>
                <a:ext uri="{FF2B5EF4-FFF2-40B4-BE49-F238E27FC236}">
                  <a16:creationId xmlns:a16="http://schemas.microsoft.com/office/drawing/2014/main" id="{41BD7336-ECBE-310D-40C0-0F3B16A15535}"/>
                </a:ext>
              </a:extLst>
            </p:cNvPr>
            <p:cNvSpPr/>
            <p:nvPr/>
          </p:nvSpPr>
          <p:spPr>
            <a:xfrm>
              <a:off x="4530212" y="2922638"/>
              <a:ext cx="1881098" cy="857294"/>
            </a:xfrm>
            <a:prstGeom prst="flowChartMagneticDrum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0293143-405E-2C87-3418-C630106073DD}"/>
                </a:ext>
              </a:extLst>
            </p:cNvPr>
            <p:cNvSpPr txBox="1"/>
            <p:nvPr/>
          </p:nvSpPr>
          <p:spPr>
            <a:xfrm>
              <a:off x="4488493" y="2906683"/>
              <a:ext cx="152652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Reference</a:t>
              </a:r>
              <a:br>
                <a:rPr lang="en-US" sz="1600" dirty="0"/>
              </a:br>
              <a:r>
                <a:rPr lang="en-US" sz="1600" dirty="0"/>
                <a:t>genome</a:t>
              </a:r>
              <a:br>
                <a:rPr lang="en-US" sz="1600" dirty="0"/>
              </a:br>
              <a:r>
                <a:rPr lang="en-US" sz="1600" dirty="0"/>
                <a:t>(FASTA, GTF)</a:t>
              </a:r>
            </a:p>
          </p:txBody>
        </p:sp>
        <p:sp>
          <p:nvSpPr>
            <p:cNvPr id="43" name="Right Arrow 42">
              <a:extLst>
                <a:ext uri="{FF2B5EF4-FFF2-40B4-BE49-F238E27FC236}">
                  <a16:creationId xmlns:a16="http://schemas.microsoft.com/office/drawing/2014/main" id="{9D7BB9F4-CACB-D33D-1B13-03E02BD8D5D7}"/>
                </a:ext>
              </a:extLst>
            </p:cNvPr>
            <p:cNvSpPr/>
            <p:nvPr/>
          </p:nvSpPr>
          <p:spPr>
            <a:xfrm rot="10800000">
              <a:off x="3712480" y="3142302"/>
              <a:ext cx="771303" cy="167265"/>
            </a:xfrm>
            <a:prstGeom prst="right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06D73A3B-1A78-FECF-6CE8-43108C0F2798}"/>
                </a:ext>
              </a:extLst>
            </p:cNvPr>
            <p:cNvSpPr/>
            <p:nvPr/>
          </p:nvSpPr>
          <p:spPr>
            <a:xfrm>
              <a:off x="3085690" y="3846799"/>
              <a:ext cx="1402080" cy="487680"/>
            </a:xfrm>
            <a:prstGeom prst="roundRect">
              <a:avLst/>
            </a:prstGeom>
            <a:solidFill>
              <a:srgbClr val="F4F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1B0379DA-6C58-64D8-F139-A3649ED5A651}"/>
                </a:ext>
              </a:extLst>
            </p:cNvPr>
            <p:cNvSpPr/>
            <p:nvPr/>
          </p:nvSpPr>
          <p:spPr>
            <a:xfrm>
              <a:off x="3014191" y="3913855"/>
              <a:ext cx="1402080" cy="48768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9383AADC-7F13-3E76-6161-A080D742380D}"/>
                </a:ext>
              </a:extLst>
            </p:cNvPr>
            <p:cNvSpPr/>
            <p:nvPr/>
          </p:nvSpPr>
          <p:spPr>
            <a:xfrm>
              <a:off x="2947135" y="3980911"/>
              <a:ext cx="1402080" cy="48768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E4B2E4B-E22B-B9A1-08F9-B9217F709DD5}"/>
                </a:ext>
              </a:extLst>
            </p:cNvPr>
            <p:cNvSpPr txBox="1"/>
            <p:nvPr/>
          </p:nvSpPr>
          <p:spPr>
            <a:xfrm>
              <a:off x="2947135" y="3901252"/>
              <a:ext cx="1360714" cy="584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BAM (alignments)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885FAB4-8839-F55E-2445-D9AADC52E249}"/>
                </a:ext>
              </a:extLst>
            </p:cNvPr>
            <p:cNvSpPr txBox="1"/>
            <p:nvPr/>
          </p:nvSpPr>
          <p:spPr>
            <a:xfrm>
              <a:off x="3332969" y="4772070"/>
              <a:ext cx="1402080" cy="2923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  <a:latin typeface="Ayuthaya" pitchFamily="2" charset="-34"/>
                  <a:ea typeface="Ayuthaya" pitchFamily="2" charset="-34"/>
                  <a:cs typeface="Ayuthaya" pitchFamily="2" charset="-34"/>
                </a:rPr>
                <a:t>Salmon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C75E59B-C4E1-0546-C8C6-6934C72A8BF9}"/>
                </a:ext>
              </a:extLst>
            </p:cNvPr>
            <p:cNvSpPr txBox="1"/>
            <p:nvPr/>
          </p:nvSpPr>
          <p:spPr>
            <a:xfrm>
              <a:off x="2661140" y="4748526"/>
              <a:ext cx="938784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count</a:t>
              </a:r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23D044CF-BE48-0D11-9078-F27F8CDCB2F3}"/>
                </a:ext>
              </a:extLst>
            </p:cNvPr>
            <p:cNvSpPr/>
            <p:nvPr/>
          </p:nvSpPr>
          <p:spPr>
            <a:xfrm>
              <a:off x="2928847" y="5413471"/>
              <a:ext cx="1402080" cy="48768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170E04A-483E-4292-F2D2-1102FEEB5E0E}"/>
                </a:ext>
              </a:extLst>
            </p:cNvPr>
            <p:cNvSpPr txBox="1"/>
            <p:nvPr/>
          </p:nvSpPr>
          <p:spPr>
            <a:xfrm>
              <a:off x="2953649" y="5332219"/>
              <a:ext cx="1360714" cy="6155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dirty="0"/>
                <a:t>count table</a:t>
              </a:r>
              <a:br>
                <a:rPr lang="en-US" sz="1700" dirty="0"/>
              </a:br>
              <a:r>
                <a:rPr lang="en-US" sz="1700" dirty="0"/>
                <a:t>(TSV)</a:t>
              </a:r>
            </a:p>
          </p:txBody>
        </p:sp>
        <p:sp>
          <p:nvSpPr>
            <p:cNvPr id="61" name="Right Arrow 60">
              <a:extLst>
                <a:ext uri="{FF2B5EF4-FFF2-40B4-BE49-F238E27FC236}">
                  <a16:creationId xmlns:a16="http://schemas.microsoft.com/office/drawing/2014/main" id="{9D31AEE1-EEC7-E4ED-C84A-338E3253A6DD}"/>
                </a:ext>
              </a:extLst>
            </p:cNvPr>
            <p:cNvSpPr/>
            <p:nvPr/>
          </p:nvSpPr>
          <p:spPr>
            <a:xfrm rot="5400000">
              <a:off x="3326162" y="1694623"/>
              <a:ext cx="642670" cy="185181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ight Arrow 61">
              <a:extLst>
                <a:ext uri="{FF2B5EF4-FFF2-40B4-BE49-F238E27FC236}">
                  <a16:creationId xmlns:a16="http://schemas.microsoft.com/office/drawing/2014/main" id="{53551984-C786-AD9C-1A0B-DDF4B106EDC8}"/>
                </a:ext>
              </a:extLst>
            </p:cNvPr>
            <p:cNvSpPr/>
            <p:nvPr/>
          </p:nvSpPr>
          <p:spPr>
            <a:xfrm rot="5400000">
              <a:off x="3305495" y="1759197"/>
              <a:ext cx="642670" cy="185181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ight Arrow 62">
              <a:extLst>
                <a:ext uri="{FF2B5EF4-FFF2-40B4-BE49-F238E27FC236}">
                  <a16:creationId xmlns:a16="http://schemas.microsoft.com/office/drawing/2014/main" id="{0F26B1F1-F62E-56DF-9E5A-FEA364BFE9F3}"/>
                </a:ext>
              </a:extLst>
            </p:cNvPr>
            <p:cNvSpPr/>
            <p:nvPr/>
          </p:nvSpPr>
          <p:spPr>
            <a:xfrm rot="5400000">
              <a:off x="3278321" y="1815198"/>
              <a:ext cx="642670" cy="185181"/>
            </a:xfrm>
            <a:prstGeom prst="right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ight Arrow 69">
              <a:extLst>
                <a:ext uri="{FF2B5EF4-FFF2-40B4-BE49-F238E27FC236}">
                  <a16:creationId xmlns:a16="http://schemas.microsoft.com/office/drawing/2014/main" id="{2A5BC568-9D67-4105-6915-AF717722868A}"/>
                </a:ext>
              </a:extLst>
            </p:cNvPr>
            <p:cNvSpPr/>
            <p:nvPr/>
          </p:nvSpPr>
          <p:spPr>
            <a:xfrm rot="5400000">
              <a:off x="3299454" y="3236672"/>
              <a:ext cx="642670" cy="185181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ight Arrow 70">
              <a:extLst>
                <a:ext uri="{FF2B5EF4-FFF2-40B4-BE49-F238E27FC236}">
                  <a16:creationId xmlns:a16="http://schemas.microsoft.com/office/drawing/2014/main" id="{1D57A4DB-BF6A-9855-C12A-E15924884B22}"/>
                </a:ext>
              </a:extLst>
            </p:cNvPr>
            <p:cNvSpPr/>
            <p:nvPr/>
          </p:nvSpPr>
          <p:spPr>
            <a:xfrm rot="5400000">
              <a:off x="3278787" y="3301246"/>
              <a:ext cx="642670" cy="185181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ight Arrow 71">
              <a:extLst>
                <a:ext uri="{FF2B5EF4-FFF2-40B4-BE49-F238E27FC236}">
                  <a16:creationId xmlns:a16="http://schemas.microsoft.com/office/drawing/2014/main" id="{36DBF08A-0770-CD4C-92A5-1924AD01488A}"/>
                </a:ext>
              </a:extLst>
            </p:cNvPr>
            <p:cNvSpPr/>
            <p:nvPr/>
          </p:nvSpPr>
          <p:spPr>
            <a:xfrm rot="5400000">
              <a:off x="3251613" y="3357247"/>
              <a:ext cx="642670" cy="185181"/>
            </a:xfrm>
            <a:prstGeom prst="right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B19BE782-1B09-503C-42AF-BFCA3F5F1CC9}"/>
                </a:ext>
              </a:extLst>
            </p:cNvPr>
            <p:cNvSpPr/>
            <p:nvPr/>
          </p:nvSpPr>
          <p:spPr>
            <a:xfrm>
              <a:off x="7790698" y="933409"/>
              <a:ext cx="876166" cy="48768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D60DE2F-6488-61A7-D3A1-1ED7151B7BB5}"/>
                </a:ext>
              </a:extLst>
            </p:cNvPr>
            <p:cNvSpPr txBox="1"/>
            <p:nvPr/>
          </p:nvSpPr>
          <p:spPr>
            <a:xfrm>
              <a:off x="7728706" y="890431"/>
              <a:ext cx="954832" cy="584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HTML</a:t>
              </a:r>
            </a:p>
            <a:p>
              <a:pPr algn="ctr"/>
              <a:r>
                <a:rPr lang="en-US" sz="1600" dirty="0"/>
                <a:t>report</a:t>
              </a:r>
            </a:p>
          </p:txBody>
        </p:sp>
        <p:sp>
          <p:nvSpPr>
            <p:cNvPr id="77" name="Bent-Up Arrow 76">
              <a:extLst>
                <a:ext uri="{FF2B5EF4-FFF2-40B4-BE49-F238E27FC236}">
                  <a16:creationId xmlns:a16="http://schemas.microsoft.com/office/drawing/2014/main" id="{D489D613-FD73-C6DB-6452-788A206D79BE}"/>
                </a:ext>
              </a:extLst>
            </p:cNvPr>
            <p:cNvSpPr/>
            <p:nvPr/>
          </p:nvSpPr>
          <p:spPr>
            <a:xfrm>
              <a:off x="4583690" y="1553190"/>
              <a:ext cx="715231" cy="1111494"/>
            </a:xfrm>
            <a:prstGeom prst="bentUpArrow">
              <a:avLst>
                <a:gd name="adj1" fmla="val 12803"/>
                <a:gd name="adj2" fmla="val 19857"/>
                <a:gd name="adj3" fmla="val 20592"/>
              </a:avLst>
            </a:prstGeom>
            <a:pattFill prst="narHorz">
              <a:fgClr>
                <a:schemeClr val="bg1">
                  <a:lumMod val="65000"/>
                </a:schemeClr>
              </a:fgClr>
              <a:bgClr>
                <a:schemeClr val="bg1"/>
              </a:bgClr>
            </a:pattFill>
            <a:ln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ight Arrow 1">
              <a:extLst>
                <a:ext uri="{FF2B5EF4-FFF2-40B4-BE49-F238E27FC236}">
                  <a16:creationId xmlns:a16="http://schemas.microsoft.com/office/drawing/2014/main" id="{2695028B-CC46-958D-F338-DB9CA5F56671}"/>
                </a:ext>
              </a:extLst>
            </p:cNvPr>
            <p:cNvSpPr/>
            <p:nvPr/>
          </p:nvSpPr>
          <p:spPr>
            <a:xfrm rot="5400000">
              <a:off x="3272705" y="4776321"/>
              <a:ext cx="642670" cy="185181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ight Arrow 2">
              <a:extLst>
                <a:ext uri="{FF2B5EF4-FFF2-40B4-BE49-F238E27FC236}">
                  <a16:creationId xmlns:a16="http://schemas.microsoft.com/office/drawing/2014/main" id="{7FE505C9-67C7-945B-BD6F-743714636B04}"/>
                </a:ext>
              </a:extLst>
            </p:cNvPr>
            <p:cNvSpPr/>
            <p:nvPr/>
          </p:nvSpPr>
          <p:spPr>
            <a:xfrm rot="5400000">
              <a:off x="3252038" y="4840895"/>
              <a:ext cx="642670" cy="185181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22D7A95A-4B5C-14FC-820A-30B925906611}"/>
                </a:ext>
              </a:extLst>
            </p:cNvPr>
            <p:cNvSpPr/>
            <p:nvPr/>
          </p:nvSpPr>
          <p:spPr>
            <a:xfrm rot="5400000">
              <a:off x="3224864" y="4896896"/>
              <a:ext cx="642670" cy="185181"/>
            </a:xfrm>
            <a:prstGeom prst="right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645AF57-C07F-FB84-0E58-7CD3E7B1CD81}"/>
                </a:ext>
              </a:extLst>
            </p:cNvPr>
            <p:cNvSpPr txBox="1"/>
            <p:nvPr/>
          </p:nvSpPr>
          <p:spPr>
            <a:xfrm>
              <a:off x="7960931" y="2428336"/>
              <a:ext cx="1102481" cy="4001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i="1" u="sng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Bradley Hand" pitchFamily="2" charset="77"/>
                  <a:ea typeface="Ayuthaya" pitchFamily="2" charset="-34"/>
                  <a:cs typeface="Ayuthaya" pitchFamily="2" charset="-34"/>
                </a:rPr>
                <a:t>Part I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3E02916-CAF1-AD9C-4C86-F3A267E49C89}"/>
                </a:ext>
              </a:extLst>
            </p:cNvPr>
            <p:cNvSpPr txBox="1"/>
            <p:nvPr/>
          </p:nvSpPr>
          <p:spPr>
            <a:xfrm>
              <a:off x="7820034" y="2728464"/>
              <a:ext cx="1424831" cy="6155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Bradley Hand" pitchFamily="2" charset="77"/>
                  <a:ea typeface="Ayuthaya" pitchFamily="2" charset="-34"/>
                  <a:cs typeface="Ayuthaya" pitchFamily="2" charset="-34"/>
                </a:rPr>
                <a:t>Algorithmic processing</a:t>
              </a:r>
            </a:p>
          </p:txBody>
        </p:sp>
        <p:sp>
          <p:nvSpPr>
            <p:cNvPr id="25" name="Bent-Up Arrow 24">
              <a:extLst>
                <a:ext uri="{FF2B5EF4-FFF2-40B4-BE49-F238E27FC236}">
                  <a16:creationId xmlns:a16="http://schemas.microsoft.com/office/drawing/2014/main" id="{F705982D-3298-A625-54AB-5560966946A9}"/>
                </a:ext>
              </a:extLst>
            </p:cNvPr>
            <p:cNvSpPr/>
            <p:nvPr/>
          </p:nvSpPr>
          <p:spPr>
            <a:xfrm>
              <a:off x="4567044" y="1567216"/>
              <a:ext cx="2741209" cy="2605636"/>
            </a:xfrm>
            <a:prstGeom prst="bentUpArrow">
              <a:avLst>
                <a:gd name="adj1" fmla="val 4332"/>
                <a:gd name="adj2" fmla="val 5940"/>
                <a:gd name="adj3" fmla="val 6071"/>
              </a:avLst>
            </a:prstGeom>
            <a:pattFill prst="narHorz">
              <a:fgClr>
                <a:schemeClr val="bg1">
                  <a:lumMod val="65000"/>
                </a:schemeClr>
              </a:fgClr>
              <a:bgClr>
                <a:schemeClr val="bg1"/>
              </a:bgClr>
            </a:pattFill>
            <a:ln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34684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20BE9-44C5-BB96-48CD-9123D0B87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C3B6244-1B73-5A62-352E-1FB866E7B7A4}"/>
              </a:ext>
            </a:extLst>
          </p:cNvPr>
          <p:cNvGrpSpPr/>
          <p:nvPr/>
        </p:nvGrpSpPr>
        <p:grpSpPr>
          <a:xfrm>
            <a:off x="2575034" y="595201"/>
            <a:ext cx="6784577" cy="5821534"/>
            <a:chOff x="2575034" y="595201"/>
            <a:chExt cx="6784577" cy="5821534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75F5B43-C690-CF3F-04E1-5276502D703A}"/>
                </a:ext>
              </a:extLst>
            </p:cNvPr>
            <p:cNvSpPr/>
            <p:nvPr/>
          </p:nvSpPr>
          <p:spPr>
            <a:xfrm>
              <a:off x="2575034" y="595201"/>
              <a:ext cx="6784577" cy="58215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49F78852-5649-EAC6-8566-482CB3F7C973}"/>
                </a:ext>
              </a:extLst>
            </p:cNvPr>
            <p:cNvSpPr/>
            <p:nvPr/>
          </p:nvSpPr>
          <p:spPr>
            <a:xfrm>
              <a:off x="3072895" y="824876"/>
              <a:ext cx="1402080" cy="48768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  <a:alpha val="34212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A6FC622C-39D2-F2AF-D590-77BD3A5BBAE8}"/>
                </a:ext>
              </a:extLst>
            </p:cNvPr>
            <p:cNvSpPr/>
            <p:nvPr/>
          </p:nvSpPr>
          <p:spPr>
            <a:xfrm>
              <a:off x="3001396" y="891932"/>
              <a:ext cx="1402080" cy="48768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48E285FD-EB46-FAE3-5FE5-02337F7BF3A4}"/>
                </a:ext>
              </a:extLst>
            </p:cNvPr>
            <p:cNvSpPr/>
            <p:nvPr/>
          </p:nvSpPr>
          <p:spPr>
            <a:xfrm>
              <a:off x="2934340" y="958988"/>
              <a:ext cx="1402080" cy="48768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FA89461-5CBF-E871-E492-5EF9307C8388}"/>
                </a:ext>
              </a:extLst>
            </p:cNvPr>
            <p:cNvSpPr txBox="1"/>
            <p:nvPr/>
          </p:nvSpPr>
          <p:spPr>
            <a:xfrm>
              <a:off x="2934340" y="1027094"/>
              <a:ext cx="1360714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FASTQ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85DDBDD-271B-FD86-9D73-4191A9886C4D}"/>
                </a:ext>
              </a:extLst>
            </p:cNvPr>
            <p:cNvSpPr txBox="1"/>
            <p:nvPr/>
          </p:nvSpPr>
          <p:spPr>
            <a:xfrm>
              <a:off x="2675913" y="1681485"/>
              <a:ext cx="938784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trim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EDD51B6-7AA3-7029-4B17-76ADE2BB72D8}"/>
                </a:ext>
              </a:extLst>
            </p:cNvPr>
            <p:cNvSpPr txBox="1"/>
            <p:nvPr/>
          </p:nvSpPr>
          <p:spPr>
            <a:xfrm>
              <a:off x="3425837" y="1580154"/>
              <a:ext cx="1402080" cy="49244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  <a:latin typeface="Ayuthaya" pitchFamily="2" charset="-34"/>
                  <a:ea typeface="Ayuthaya" pitchFamily="2" charset="-34"/>
                  <a:cs typeface="Ayuthaya" pitchFamily="2" charset="-34"/>
                </a:rPr>
                <a:t>Trim-</a:t>
              </a:r>
              <a:br>
                <a:rPr lang="en-US" sz="1300" dirty="0">
                  <a:solidFill>
                    <a:schemeClr val="bg1">
                      <a:lumMod val="50000"/>
                    </a:schemeClr>
                  </a:solidFill>
                  <a:latin typeface="Ayuthaya" pitchFamily="2" charset="-34"/>
                  <a:ea typeface="Ayuthaya" pitchFamily="2" charset="-34"/>
                  <a:cs typeface="Ayuthaya" pitchFamily="2" charset="-34"/>
                </a:rPr>
              </a:br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  <a:latin typeface="Ayuthaya" pitchFamily="2" charset="-34"/>
                  <a:ea typeface="Ayuthaya" pitchFamily="2" charset="-34"/>
                  <a:cs typeface="Ayuthaya" pitchFamily="2" charset="-34"/>
                </a:rPr>
                <a:t>Galore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41F2146C-E64C-EF6B-CE06-FA411F88C3D7}"/>
                </a:ext>
              </a:extLst>
            </p:cNvPr>
            <p:cNvSpPr/>
            <p:nvPr/>
          </p:nvSpPr>
          <p:spPr>
            <a:xfrm>
              <a:off x="3018634" y="2304511"/>
              <a:ext cx="1402080" cy="487680"/>
            </a:xfrm>
            <a:prstGeom prst="roundRect">
              <a:avLst/>
            </a:prstGeom>
            <a:solidFill>
              <a:srgbClr val="F4F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4AE575B6-7CF3-66D6-4FC4-0E70E4E896A8}"/>
                </a:ext>
              </a:extLst>
            </p:cNvPr>
            <p:cNvSpPr/>
            <p:nvPr/>
          </p:nvSpPr>
          <p:spPr>
            <a:xfrm>
              <a:off x="2947135" y="2371567"/>
              <a:ext cx="1402080" cy="48768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E827B296-2A3D-DDD2-3DF7-DF722B12A43C}"/>
                </a:ext>
              </a:extLst>
            </p:cNvPr>
            <p:cNvSpPr/>
            <p:nvPr/>
          </p:nvSpPr>
          <p:spPr>
            <a:xfrm>
              <a:off x="2880079" y="2438623"/>
              <a:ext cx="1402080" cy="48768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FD0E0B3-0258-4F88-13D8-8C102DAEEBC9}"/>
                </a:ext>
              </a:extLst>
            </p:cNvPr>
            <p:cNvSpPr txBox="1"/>
            <p:nvPr/>
          </p:nvSpPr>
          <p:spPr>
            <a:xfrm>
              <a:off x="2880079" y="2369474"/>
              <a:ext cx="1360714" cy="584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Processed FASTQ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B1B0BC5-9BA0-76BA-4B46-2B2864B70B9D}"/>
                </a:ext>
              </a:extLst>
            </p:cNvPr>
            <p:cNvSpPr txBox="1"/>
            <p:nvPr/>
          </p:nvSpPr>
          <p:spPr>
            <a:xfrm>
              <a:off x="3281887" y="3281068"/>
              <a:ext cx="1402080" cy="2923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  <a:latin typeface="Ayuthaya" pitchFamily="2" charset="-34"/>
                  <a:ea typeface="Ayuthaya" pitchFamily="2" charset="-34"/>
                  <a:cs typeface="Ayuthaya" pitchFamily="2" charset="-34"/>
                </a:rPr>
                <a:t>STAR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DBF32C2-C28D-F4FE-12DB-967983FBB002}"/>
                </a:ext>
              </a:extLst>
            </p:cNvPr>
            <p:cNvSpPr txBox="1"/>
            <p:nvPr/>
          </p:nvSpPr>
          <p:spPr>
            <a:xfrm>
              <a:off x="2773698" y="3212900"/>
              <a:ext cx="938784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align</a:t>
              </a:r>
            </a:p>
          </p:txBody>
        </p:sp>
        <p:sp>
          <p:nvSpPr>
            <p:cNvPr id="40" name="Direct Access Storage 39">
              <a:extLst>
                <a:ext uri="{FF2B5EF4-FFF2-40B4-BE49-F238E27FC236}">
                  <a16:creationId xmlns:a16="http://schemas.microsoft.com/office/drawing/2014/main" id="{5DE8E456-2FB1-FD49-4049-E053B0CE9FDF}"/>
                </a:ext>
              </a:extLst>
            </p:cNvPr>
            <p:cNvSpPr/>
            <p:nvPr/>
          </p:nvSpPr>
          <p:spPr>
            <a:xfrm>
              <a:off x="4530212" y="2922638"/>
              <a:ext cx="1881098" cy="857294"/>
            </a:xfrm>
            <a:prstGeom prst="flowChartMagneticDrum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52835D3-6C57-C63C-6368-4B74A6EEF781}"/>
                </a:ext>
              </a:extLst>
            </p:cNvPr>
            <p:cNvSpPr txBox="1"/>
            <p:nvPr/>
          </p:nvSpPr>
          <p:spPr>
            <a:xfrm>
              <a:off x="4488493" y="2906683"/>
              <a:ext cx="152652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Reference</a:t>
              </a:r>
              <a:br>
                <a:rPr lang="en-US" sz="1600" dirty="0"/>
              </a:br>
              <a:r>
                <a:rPr lang="en-US" sz="1600" dirty="0"/>
                <a:t>genome</a:t>
              </a:r>
              <a:br>
                <a:rPr lang="en-US" sz="1600" dirty="0"/>
              </a:br>
              <a:r>
                <a:rPr lang="en-US" sz="1600" dirty="0"/>
                <a:t>(FASTA, GTF)</a:t>
              </a:r>
            </a:p>
          </p:txBody>
        </p:sp>
        <p:sp>
          <p:nvSpPr>
            <p:cNvPr id="43" name="Right Arrow 42">
              <a:extLst>
                <a:ext uri="{FF2B5EF4-FFF2-40B4-BE49-F238E27FC236}">
                  <a16:creationId xmlns:a16="http://schemas.microsoft.com/office/drawing/2014/main" id="{7C7E5F00-3BDD-AFC4-1A37-A732355CBA27}"/>
                </a:ext>
              </a:extLst>
            </p:cNvPr>
            <p:cNvSpPr/>
            <p:nvPr/>
          </p:nvSpPr>
          <p:spPr>
            <a:xfrm rot="10800000">
              <a:off x="3712480" y="3142302"/>
              <a:ext cx="771303" cy="167265"/>
            </a:xfrm>
            <a:prstGeom prst="right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B3938967-792B-4BB3-FD6E-77D63051BB8C}"/>
                </a:ext>
              </a:extLst>
            </p:cNvPr>
            <p:cNvSpPr/>
            <p:nvPr/>
          </p:nvSpPr>
          <p:spPr>
            <a:xfrm>
              <a:off x="3085690" y="3846799"/>
              <a:ext cx="1402080" cy="487680"/>
            </a:xfrm>
            <a:prstGeom prst="roundRect">
              <a:avLst/>
            </a:prstGeom>
            <a:solidFill>
              <a:srgbClr val="F4F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55499AEB-C52B-A816-E0FA-CE8DD2010C8B}"/>
                </a:ext>
              </a:extLst>
            </p:cNvPr>
            <p:cNvSpPr/>
            <p:nvPr/>
          </p:nvSpPr>
          <p:spPr>
            <a:xfrm>
              <a:off x="3014191" y="3913855"/>
              <a:ext cx="1402080" cy="48768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F57DCFFF-965A-439D-0335-655955105624}"/>
                </a:ext>
              </a:extLst>
            </p:cNvPr>
            <p:cNvSpPr/>
            <p:nvPr/>
          </p:nvSpPr>
          <p:spPr>
            <a:xfrm>
              <a:off x="2947135" y="3980911"/>
              <a:ext cx="1402080" cy="48768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4D41A7E-79D9-E536-1C04-67E7640658C9}"/>
                </a:ext>
              </a:extLst>
            </p:cNvPr>
            <p:cNvSpPr txBox="1"/>
            <p:nvPr/>
          </p:nvSpPr>
          <p:spPr>
            <a:xfrm>
              <a:off x="2947135" y="3901252"/>
              <a:ext cx="1360714" cy="584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BAM (alignments)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57914AF-55F4-9A53-8080-40F8894E1204}"/>
                </a:ext>
              </a:extLst>
            </p:cNvPr>
            <p:cNvSpPr txBox="1"/>
            <p:nvPr/>
          </p:nvSpPr>
          <p:spPr>
            <a:xfrm>
              <a:off x="3332969" y="4772070"/>
              <a:ext cx="1402080" cy="2923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  <a:latin typeface="Ayuthaya" pitchFamily="2" charset="-34"/>
                  <a:ea typeface="Ayuthaya" pitchFamily="2" charset="-34"/>
                  <a:cs typeface="Ayuthaya" pitchFamily="2" charset="-34"/>
                </a:rPr>
                <a:t>Salmon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00A8AC4-EA01-A77F-CB93-58E9D343F98B}"/>
                </a:ext>
              </a:extLst>
            </p:cNvPr>
            <p:cNvSpPr txBox="1"/>
            <p:nvPr/>
          </p:nvSpPr>
          <p:spPr>
            <a:xfrm>
              <a:off x="2661140" y="4748526"/>
              <a:ext cx="938784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count</a:t>
              </a:r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A2249DD2-C88D-972A-BA18-87EB461FE927}"/>
                </a:ext>
              </a:extLst>
            </p:cNvPr>
            <p:cNvSpPr/>
            <p:nvPr/>
          </p:nvSpPr>
          <p:spPr>
            <a:xfrm>
              <a:off x="2928847" y="5413471"/>
              <a:ext cx="1402080" cy="48768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EA9663B-B925-756F-0361-279BD30E73F1}"/>
                </a:ext>
              </a:extLst>
            </p:cNvPr>
            <p:cNvSpPr txBox="1"/>
            <p:nvPr/>
          </p:nvSpPr>
          <p:spPr>
            <a:xfrm>
              <a:off x="2953649" y="5332219"/>
              <a:ext cx="1360714" cy="6155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dirty="0"/>
                <a:t>count table</a:t>
              </a:r>
              <a:br>
                <a:rPr lang="en-US" sz="1700" dirty="0"/>
              </a:br>
              <a:r>
                <a:rPr lang="en-US" sz="1700" dirty="0"/>
                <a:t>(TSV)</a:t>
              </a:r>
            </a:p>
          </p:txBody>
        </p:sp>
        <p:sp>
          <p:nvSpPr>
            <p:cNvPr id="61" name="Right Arrow 60">
              <a:extLst>
                <a:ext uri="{FF2B5EF4-FFF2-40B4-BE49-F238E27FC236}">
                  <a16:creationId xmlns:a16="http://schemas.microsoft.com/office/drawing/2014/main" id="{E7FA569C-22AC-C1F3-956B-C3AF9009D2F7}"/>
                </a:ext>
              </a:extLst>
            </p:cNvPr>
            <p:cNvSpPr/>
            <p:nvPr/>
          </p:nvSpPr>
          <p:spPr>
            <a:xfrm rot="5400000">
              <a:off x="3326162" y="1694623"/>
              <a:ext cx="642670" cy="185181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ight Arrow 61">
              <a:extLst>
                <a:ext uri="{FF2B5EF4-FFF2-40B4-BE49-F238E27FC236}">
                  <a16:creationId xmlns:a16="http://schemas.microsoft.com/office/drawing/2014/main" id="{97ABC6CE-901F-D746-01D6-554A673A613B}"/>
                </a:ext>
              </a:extLst>
            </p:cNvPr>
            <p:cNvSpPr/>
            <p:nvPr/>
          </p:nvSpPr>
          <p:spPr>
            <a:xfrm rot="5400000">
              <a:off x="3305495" y="1759197"/>
              <a:ext cx="642670" cy="185181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ight Arrow 62">
              <a:extLst>
                <a:ext uri="{FF2B5EF4-FFF2-40B4-BE49-F238E27FC236}">
                  <a16:creationId xmlns:a16="http://schemas.microsoft.com/office/drawing/2014/main" id="{CD0ABA28-1225-DBF3-6377-69566CCE74EF}"/>
                </a:ext>
              </a:extLst>
            </p:cNvPr>
            <p:cNvSpPr/>
            <p:nvPr/>
          </p:nvSpPr>
          <p:spPr>
            <a:xfrm rot="5400000">
              <a:off x="3278321" y="1815198"/>
              <a:ext cx="642670" cy="185181"/>
            </a:xfrm>
            <a:prstGeom prst="right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ight Arrow 69">
              <a:extLst>
                <a:ext uri="{FF2B5EF4-FFF2-40B4-BE49-F238E27FC236}">
                  <a16:creationId xmlns:a16="http://schemas.microsoft.com/office/drawing/2014/main" id="{0ECF5B54-5B1F-8D6D-73F0-A7366E16D7AA}"/>
                </a:ext>
              </a:extLst>
            </p:cNvPr>
            <p:cNvSpPr/>
            <p:nvPr/>
          </p:nvSpPr>
          <p:spPr>
            <a:xfrm rot="5400000">
              <a:off x="3299454" y="3236672"/>
              <a:ext cx="642670" cy="185181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ight Arrow 70">
              <a:extLst>
                <a:ext uri="{FF2B5EF4-FFF2-40B4-BE49-F238E27FC236}">
                  <a16:creationId xmlns:a16="http://schemas.microsoft.com/office/drawing/2014/main" id="{2DA62DFD-9F10-4D80-1935-BE27A4628529}"/>
                </a:ext>
              </a:extLst>
            </p:cNvPr>
            <p:cNvSpPr/>
            <p:nvPr/>
          </p:nvSpPr>
          <p:spPr>
            <a:xfrm rot="5400000">
              <a:off x="3278787" y="3301246"/>
              <a:ext cx="642670" cy="185181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ight Arrow 71">
              <a:extLst>
                <a:ext uri="{FF2B5EF4-FFF2-40B4-BE49-F238E27FC236}">
                  <a16:creationId xmlns:a16="http://schemas.microsoft.com/office/drawing/2014/main" id="{35D2121A-CCB3-D837-C0AA-BED17C4098A2}"/>
                </a:ext>
              </a:extLst>
            </p:cNvPr>
            <p:cNvSpPr/>
            <p:nvPr/>
          </p:nvSpPr>
          <p:spPr>
            <a:xfrm rot="5400000">
              <a:off x="3251613" y="3357247"/>
              <a:ext cx="642670" cy="185181"/>
            </a:xfrm>
            <a:prstGeom prst="right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ight Arrow 1">
              <a:extLst>
                <a:ext uri="{FF2B5EF4-FFF2-40B4-BE49-F238E27FC236}">
                  <a16:creationId xmlns:a16="http://schemas.microsoft.com/office/drawing/2014/main" id="{C91236E5-1B43-E925-D6FA-6E7254EAEB21}"/>
                </a:ext>
              </a:extLst>
            </p:cNvPr>
            <p:cNvSpPr/>
            <p:nvPr/>
          </p:nvSpPr>
          <p:spPr>
            <a:xfrm rot="5400000">
              <a:off x="3272705" y="4776321"/>
              <a:ext cx="642670" cy="185181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ight Arrow 2">
              <a:extLst>
                <a:ext uri="{FF2B5EF4-FFF2-40B4-BE49-F238E27FC236}">
                  <a16:creationId xmlns:a16="http://schemas.microsoft.com/office/drawing/2014/main" id="{FCB9BAC3-5ACD-2766-C8A3-9BCF5D1752B3}"/>
                </a:ext>
              </a:extLst>
            </p:cNvPr>
            <p:cNvSpPr/>
            <p:nvPr/>
          </p:nvSpPr>
          <p:spPr>
            <a:xfrm rot="5400000">
              <a:off x="3252038" y="4840895"/>
              <a:ext cx="642670" cy="185181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9D41496C-517F-23FB-52F7-1A6EDB1A8161}"/>
                </a:ext>
              </a:extLst>
            </p:cNvPr>
            <p:cNvSpPr/>
            <p:nvPr/>
          </p:nvSpPr>
          <p:spPr>
            <a:xfrm rot="5400000">
              <a:off x="3224864" y="4896896"/>
              <a:ext cx="642670" cy="185181"/>
            </a:xfrm>
            <a:prstGeom prst="right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1707F34-6B22-7408-9A16-192F35F9363B}"/>
                </a:ext>
              </a:extLst>
            </p:cNvPr>
            <p:cNvSpPr txBox="1"/>
            <p:nvPr/>
          </p:nvSpPr>
          <p:spPr>
            <a:xfrm>
              <a:off x="7960931" y="2428336"/>
              <a:ext cx="1102481" cy="4001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i="1" u="sng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Bradley Hand" pitchFamily="2" charset="77"/>
                  <a:ea typeface="Ayuthaya" pitchFamily="2" charset="-34"/>
                  <a:cs typeface="Ayuthaya" pitchFamily="2" charset="-34"/>
                </a:rPr>
                <a:t>Part I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BD265F9-390B-3AD6-61AF-FFDF797A9ACF}"/>
                </a:ext>
              </a:extLst>
            </p:cNvPr>
            <p:cNvSpPr txBox="1"/>
            <p:nvPr/>
          </p:nvSpPr>
          <p:spPr>
            <a:xfrm>
              <a:off x="7820034" y="2728464"/>
              <a:ext cx="1424831" cy="6155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Bradley Hand" pitchFamily="2" charset="77"/>
                  <a:ea typeface="Ayuthaya" pitchFamily="2" charset="-34"/>
                  <a:cs typeface="Ayuthaya" pitchFamily="2" charset="-34"/>
                </a:rPr>
                <a:t>Algorithmic processing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4291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1246</TotalTime>
  <Words>141</Words>
  <Application>Microsoft Macintosh PowerPoint</Application>
  <PresentationFormat>Widescreen</PresentationFormat>
  <Paragraphs>63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Ayuthaya</vt:lpstr>
      <vt:lpstr>Bradley Hand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Poelstra, Jelmer W.</dc:creator>
  <cp:lastModifiedBy>Poelstra, Jelmer</cp:lastModifiedBy>
  <cp:revision>10</cp:revision>
  <dcterms:created xsi:type="dcterms:W3CDTF">2023-07-13T20:20:01Z</dcterms:created>
  <dcterms:modified xsi:type="dcterms:W3CDTF">2025-08-23T15:40:25Z</dcterms:modified>
</cp:coreProperties>
</file>